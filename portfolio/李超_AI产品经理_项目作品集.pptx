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155F5"/>
          </a:solidFill>
          <a:ln w="12700">
            <a:solidFill>
              <a:srgbClr val="2155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李超 · AI 产品经理作品集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698480" y="651967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 校招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C87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C87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releaseguard.easonchao.com" TargetMode="External"/><Relationship Id="rId2" Type="http://schemas.openxmlformats.org/officeDocument/2006/relationships/hyperlink" Target="https://releaseguard.easonchao.com" TargetMode="External"/><Relationship Id="rId3" Type="http://schemas.openxmlformats.org/officeDocument/2006/relationships/hyperlink" Target="https://github.com/Eason4real/releaseguard-ai" TargetMode="External"/><Relationship Id="rId4" Type="http://schemas.openxmlformats.org/officeDocument/2006/relationships/hyperlink" Target="https://github.com/Eason4real/releaseguard-ai" TargetMode="Externa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15968" cy="6858000"/>
          </a:xfrm>
          <a:prstGeom prst="rect">
            <a:avLst/>
          </a:prstGeom>
          <a:solidFill>
            <a:srgbClr val="102A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03504"/>
            <a:ext cx="420624" cy="54864"/>
          </a:xfrm>
          <a:prstGeom prst="rect">
            <a:avLst/>
          </a:prstGeom>
          <a:solidFill>
            <a:srgbClr val="4E7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76809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9EB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PRODUCT MANAGER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1271016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李超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566928" y="1947672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产品经理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项目作品集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66928" y="3346704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7E0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AI 从 Demo 变成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7E0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可评测、可约束、可落地的产品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66928" y="507492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C7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UNSW Master of Information Technology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9C7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Artificial Intelligence 方向 · 2027 届校招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5870448"/>
            <a:ext cx="2240280" cy="256032"/>
          </a:xfrm>
          <a:prstGeom prst="roundRect">
            <a:avLst>
              <a:gd name="adj" fmla="val 50000"/>
            </a:avLst>
          </a:prstGeom>
          <a:solidFill>
            <a:srgbClr val="24477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587959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求职方向  AI 产品经理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92040" y="749808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我关注的不只是模型能否回答，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而是产品能否稳定完成任务。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4892040" y="1883664"/>
            <a:ext cx="290779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74920" y="2066544"/>
            <a:ext cx="310896" cy="310896"/>
          </a:xfrm>
          <a:prstGeom prst="ellipse">
            <a:avLst/>
          </a:prstGeom>
          <a:solidFill>
            <a:srgbClr val="102A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2075688"/>
            <a:ext cx="3108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513832" y="20299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业务问题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74920" y="245973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定义值得解决的场景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47304" y="1883664"/>
            <a:ext cx="2907792" cy="1024128"/>
          </a:xfrm>
          <a:prstGeom prst="roundRect">
            <a:avLst>
              <a:gd name="adj" fmla="val 7143"/>
            </a:avLst>
          </a:prstGeom>
          <a:solidFill>
            <a:srgbClr val="F1F5FF"/>
          </a:solidFill>
          <a:ln w="12700">
            <a:solidFill>
              <a:srgbClr val="2155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30184" y="2066544"/>
            <a:ext cx="310896" cy="310896"/>
          </a:xfrm>
          <a:prstGeom prst="ellipse">
            <a:avLst/>
          </a:prstGeom>
          <a:solidFill>
            <a:srgbClr val="215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30184" y="2075688"/>
            <a:ext cx="3108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769096" y="20299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工作流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30184" y="245973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 + 工具 + 状态 + 约束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92040" y="3236976"/>
            <a:ext cx="290779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74920" y="3419856"/>
            <a:ext cx="310896" cy="310896"/>
          </a:xfrm>
          <a:prstGeom prst="ellipse">
            <a:avLst/>
          </a:prstGeom>
          <a:solidFill>
            <a:srgbClr val="102A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3429000"/>
            <a:ext cx="3108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513832" y="33832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评测体系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074920" y="381304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 + Case Review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147304" y="3236976"/>
            <a:ext cx="290779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30184" y="3419856"/>
            <a:ext cx="310896" cy="310896"/>
          </a:xfrm>
          <a:prstGeom prst="ellipse">
            <a:avLst/>
          </a:prstGeom>
          <a:solidFill>
            <a:srgbClr val="102A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30184" y="3429000"/>
            <a:ext cx="3108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769096" y="33832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产品落地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330184" y="381304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Prototype · Demo · Deployment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92040" y="4718304"/>
            <a:ext cx="6172200" cy="1024128"/>
          </a:xfrm>
          <a:prstGeom prst="roundRect">
            <a:avLst>
              <a:gd name="adj" fmla="val 7143"/>
            </a:avLst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49286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9EB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66360" y="523036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产品定义  ·  Agent 机制  ·  数据评测  ·  失败复盘  ·  Demo 落地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C87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215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01 · RELEASEGUARD AI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让上线异常从“人工排查”变成“Agent 调查”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核心不是让 AI 直接给答案，而是让它基于工具调用和证据逐步完成调查。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1719072"/>
            <a:ext cx="4069080" cy="4315968"/>
          </a:xfrm>
          <a:prstGeom prst="roundRect">
            <a:avLst>
              <a:gd name="adj" fmla="val 1798"/>
            </a:avLst>
          </a:prstGeom>
          <a:solidFill>
            <a:srgbClr val="FFFDFD"/>
          </a:solidFill>
          <a:ln w="12700">
            <a:solidFill>
              <a:srgbClr val="F1DC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56816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F0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6596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84A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传统流程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340864"/>
            <a:ext cx="3493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信息碎片化，让调查依赖经验与跨团队协作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68680" y="2907792"/>
            <a:ext cx="310896" cy="310896"/>
          </a:xfrm>
          <a:prstGeom prst="ellipse">
            <a:avLst/>
          </a:prstGeom>
          <a:solidFill>
            <a:srgbClr val="8190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916936"/>
            <a:ext cx="3108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07592" y="289864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8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异常发现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24128" y="3218688"/>
            <a:ext cx="0" cy="137160"/>
          </a:xfrm>
          <a:prstGeom prst="line">
            <a:avLst/>
          </a:prstGeom>
          <a:noFill/>
          <a:ln w="13970">
            <a:solidFill>
              <a:srgbClr val="C8D0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355848"/>
            <a:ext cx="310896" cy="310896"/>
          </a:xfrm>
          <a:prstGeom prst="ellipse">
            <a:avLst/>
          </a:prstGeom>
          <a:solidFill>
            <a:srgbClr val="8190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364992"/>
            <a:ext cx="3108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07592" y="334670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8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查指标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024128" y="3666744"/>
            <a:ext cx="0" cy="137160"/>
          </a:xfrm>
          <a:prstGeom prst="line">
            <a:avLst/>
          </a:prstGeom>
          <a:noFill/>
          <a:ln w="13970">
            <a:solidFill>
              <a:srgbClr val="C8D0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3803904"/>
            <a:ext cx="310896" cy="310896"/>
          </a:xfrm>
          <a:prstGeom prst="ellipse">
            <a:avLst/>
          </a:prstGeom>
          <a:solidFill>
            <a:srgbClr val="8190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813048"/>
            <a:ext cx="3108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307592" y="37947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8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查发布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024128" y="4114800"/>
            <a:ext cx="0" cy="137160"/>
          </a:xfrm>
          <a:prstGeom prst="line">
            <a:avLst/>
          </a:prstGeom>
          <a:noFill/>
          <a:ln w="13970">
            <a:solidFill>
              <a:srgbClr val="C8D0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4251960"/>
            <a:ext cx="310896" cy="310896"/>
          </a:xfrm>
          <a:prstGeom prst="ellipse">
            <a:avLst/>
          </a:prstGeom>
          <a:solidFill>
            <a:srgbClr val="8190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261104"/>
            <a:ext cx="3108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307592" y="424281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8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找团队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024128" y="4562856"/>
            <a:ext cx="0" cy="137160"/>
          </a:xfrm>
          <a:prstGeom prst="line">
            <a:avLst/>
          </a:prstGeom>
          <a:noFill/>
          <a:ln w="13970">
            <a:solidFill>
              <a:srgbClr val="C8D0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4700016"/>
            <a:ext cx="310896" cy="310896"/>
          </a:xfrm>
          <a:prstGeom prst="ellipse">
            <a:avLst/>
          </a:prstGeom>
          <a:solidFill>
            <a:srgbClr val="D84A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709160"/>
            <a:ext cx="3108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307592" y="469087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D84A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猜根因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1024128" y="5010912"/>
            <a:ext cx="0" cy="137160"/>
          </a:xfrm>
          <a:prstGeom prst="line">
            <a:avLst/>
          </a:prstGeom>
          <a:noFill/>
          <a:ln w="13970">
            <a:solidFill>
              <a:srgbClr val="C8D0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5148072"/>
            <a:ext cx="310896" cy="310896"/>
          </a:xfrm>
          <a:prstGeom prst="ellipse">
            <a:avLst/>
          </a:prstGeom>
          <a:solidFill>
            <a:srgbClr val="8190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5157216"/>
            <a:ext cx="3108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307592" y="513892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8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2450592" y="2971800"/>
            <a:ext cx="18105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多系统切换  ·  人工提出假设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调查耗时长  ·  直接总结易产生无依据结论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22960" y="5495544"/>
            <a:ext cx="3502152" cy="347472"/>
          </a:xfrm>
          <a:prstGeom prst="roundRect">
            <a:avLst>
              <a:gd name="adj" fmla="val 21053"/>
            </a:avLst>
          </a:prstGeom>
          <a:solidFill>
            <a:srgbClr val="FFF0F2"/>
          </a:solidFill>
          <a:ln w="12700">
            <a:solidFill>
              <a:srgbClr val="FFF0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555040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84A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痛点：答案快，但无法说明“为什么可信”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00600" y="3858768"/>
            <a:ext cx="576072" cy="0"/>
          </a:xfrm>
          <a:prstGeom prst="line">
            <a:avLst/>
          </a:prstGeom>
          <a:noFill/>
          <a:ln w="27940">
            <a:solidFill>
              <a:srgbClr val="2155F5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736592" y="3310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EAF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82312" y="33192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5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流程重构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559552" y="1719072"/>
            <a:ext cx="6062472" cy="4315968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2700">
            <a:solidFill>
              <a:srgbClr val="C9D7FF"/>
            </a:solidFill>
            <a:prstDash val="solid"/>
          </a:ln>
          <a:effectLst>
            <a:outerShdw sx="100000" sy="100000" kx="0" ky="0" algn="bl" rotWithShape="0" blurRad="15240" dist="50800" dir="2700000">
              <a:srgbClr val="9AA8BF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833872" y="1956816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EAF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79592" y="196596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5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产品方案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833872" y="232257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证据驱动的受约束 Agent Loop</a:t>
            </a:r>
            <a:endParaRPr lang="en-US" sz="1900" dirty="0"/>
          </a:p>
        </p:txBody>
      </p:sp>
      <p:pic>
        <p:nvPicPr>
          <p:cNvPr id="42" name="Image 0" descr="C:\Users\eason\.codex\visualizations\2026\08\09\019fe640-9e81-78f3-82f3-cd996fc8cfac\releaseguard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3872" y="2803842"/>
            <a:ext cx="3310128" cy="1862963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9372600" y="2798064"/>
            <a:ext cx="1938528" cy="1874520"/>
          </a:xfrm>
          <a:prstGeom prst="roundRect">
            <a:avLst>
              <a:gd name="adj" fmla="val 3902"/>
            </a:avLst>
          </a:prstGeom>
          <a:solidFill>
            <a:srgbClr val="102A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628632" y="3054096"/>
            <a:ext cx="14264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统计检测</a:t>
            </a:r>
            <a:endParaRPr lang="en-US" sz="1420" dirty="0"/>
          </a:p>
          <a:p>
            <a:pPr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风险事件</a:t>
            </a:r>
            <a:endParaRPr lang="en-US" sz="1420" dirty="0"/>
          </a:p>
          <a:p>
            <a:pPr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Agent 调查</a:t>
            </a:r>
            <a:endParaRPr lang="en-US" sz="1420" dirty="0"/>
          </a:p>
          <a:p>
            <a:pPr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审批与验证</a:t>
            </a:r>
            <a:endParaRPr lang="en-US" sz="1420" dirty="0"/>
          </a:p>
        </p:txBody>
      </p:sp>
      <p:sp>
        <p:nvSpPr>
          <p:cNvPr id="45" name="Shape 42"/>
          <p:cNvSpPr/>
          <p:nvPr/>
        </p:nvSpPr>
        <p:spPr>
          <a:xfrm>
            <a:off x="5833872" y="4919472"/>
            <a:ext cx="5477256" cy="758952"/>
          </a:xfrm>
          <a:prstGeom prst="roundRect">
            <a:avLst>
              <a:gd name="adj" fmla="val 9639"/>
            </a:avLst>
          </a:prstGeom>
          <a:solidFill>
            <a:srgbClr val="F1F5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080760" y="5102352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5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可追踪：每一步有状态   ·   可回溯：结论关联证据   ·   可审计：外部动作需审批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5833872" y="5724144"/>
            <a:ext cx="5468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C8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真实界面截取自 ReleaseGuard 公开演示；数据为确定性 Demo / Replay，不代表生产流量。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C87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215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 MECHANISM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不是一个 Prompt，而是一条可控的产品工作流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模型负责规划，工具负责取证，运行时负责约束；证据不足时继续调查，而不是提前下结论。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21792" y="1792224"/>
            <a:ext cx="1444752" cy="640080"/>
          </a:xfrm>
          <a:prstGeom prst="roundRect">
            <a:avLst>
              <a:gd name="adj" fmla="val 11429"/>
            </a:avLst>
          </a:prstGeom>
          <a:solidFill>
            <a:srgbClr val="102A56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9568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Risk Event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103120" y="2112264"/>
            <a:ext cx="329184" cy="0"/>
          </a:xfrm>
          <a:prstGeom prst="line">
            <a:avLst/>
          </a:prstGeom>
          <a:noFill/>
          <a:ln w="15240">
            <a:solidFill>
              <a:srgbClr val="8795A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78024" y="1792224"/>
            <a:ext cx="1444752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51176" y="19568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Planner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959352" y="2112264"/>
            <a:ext cx="329184" cy="0"/>
          </a:xfrm>
          <a:prstGeom prst="line">
            <a:avLst/>
          </a:prstGeom>
          <a:noFill/>
          <a:ln w="15240">
            <a:solidFill>
              <a:srgbClr val="8795A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34256" y="1792224"/>
            <a:ext cx="1444752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7408" y="19568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竞争假设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815584" y="2112264"/>
            <a:ext cx="329184" cy="0"/>
          </a:xfrm>
          <a:prstGeom prst="line">
            <a:avLst/>
          </a:prstGeom>
          <a:noFill/>
          <a:ln w="15240">
            <a:solidFill>
              <a:srgbClr val="8795A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90488" y="1792224"/>
            <a:ext cx="1444752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9568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 Calling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671816" y="2112264"/>
            <a:ext cx="329184" cy="0"/>
          </a:xfrm>
          <a:prstGeom prst="line">
            <a:avLst/>
          </a:prstGeom>
          <a:noFill/>
          <a:ln w="15240">
            <a:solidFill>
              <a:srgbClr val="8795A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046720" y="1792224"/>
            <a:ext cx="1444752" cy="640080"/>
          </a:xfrm>
          <a:prstGeom prst="roundRect">
            <a:avLst>
              <a:gd name="adj" fmla="val 11429"/>
            </a:avLst>
          </a:prstGeom>
          <a:solidFill>
            <a:srgbClr val="F1F5FF"/>
          </a:solidFill>
          <a:ln w="12700">
            <a:solidFill>
              <a:srgbClr val="2155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19872" y="19568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528048" y="2112264"/>
            <a:ext cx="329184" cy="0"/>
          </a:xfrm>
          <a:prstGeom prst="line">
            <a:avLst/>
          </a:prstGeom>
          <a:noFill/>
          <a:ln w="15240">
            <a:solidFill>
              <a:srgbClr val="8795A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902952" y="1792224"/>
            <a:ext cx="1444752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76104" y="19568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Diagnosis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875520" y="2660904"/>
            <a:ext cx="1627632" cy="685800"/>
          </a:xfrm>
          <a:prstGeom prst="roundRect">
            <a:avLst>
              <a:gd name="adj" fmla="val 10667"/>
            </a:avLst>
          </a:prstGeom>
          <a:solidFill>
            <a:srgbClr val="FFF7E8"/>
          </a:solidFill>
          <a:ln w="12700">
            <a:solidFill>
              <a:srgbClr val="F0D39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12680" y="2843784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证据充分？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716768" y="2459736"/>
            <a:ext cx="0" cy="201168"/>
          </a:xfrm>
          <a:prstGeom prst="line">
            <a:avLst/>
          </a:prstGeom>
          <a:noFill/>
          <a:ln w="19050">
            <a:solidFill>
              <a:srgbClr val="D48A16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8897112" y="28712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84A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89120" y="3008376"/>
            <a:ext cx="5486400" cy="0"/>
          </a:xfrm>
          <a:prstGeom prst="line">
            <a:avLst/>
          </a:prstGeom>
          <a:noFill/>
          <a:ln w="17780">
            <a:solidFill>
              <a:srgbClr val="D84A5D"/>
            </a:solidFill>
            <a:prstDash val="solid"/>
            <a:headEnd type="triangle"/>
          </a:ln>
        </p:spPr>
      </p:sp>
      <p:sp>
        <p:nvSpPr>
          <p:cNvPr id="27" name="Text 25"/>
          <p:cNvSpPr/>
          <p:nvPr/>
        </p:nvSpPr>
        <p:spPr>
          <a:xfrm>
            <a:off x="5623560" y="308152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84A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 Planner / Tool Calling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936224" y="34381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15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充分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0716768" y="3364992"/>
            <a:ext cx="0" cy="338328"/>
          </a:xfrm>
          <a:prstGeom prst="line">
            <a:avLst/>
          </a:prstGeom>
          <a:noFill/>
          <a:ln w="19050">
            <a:solidFill>
              <a:srgbClr val="2155F5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581144" y="3730752"/>
            <a:ext cx="1444752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36008" y="3904488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处置建议</a:t>
            </a:r>
            <a:endParaRPr lang="en-US" sz="1180" dirty="0"/>
          </a:p>
        </p:txBody>
      </p:sp>
      <p:sp>
        <p:nvSpPr>
          <p:cNvPr id="32" name="Shape 30"/>
          <p:cNvSpPr/>
          <p:nvPr/>
        </p:nvSpPr>
        <p:spPr>
          <a:xfrm>
            <a:off x="6053328" y="4050792"/>
            <a:ext cx="228600" cy="0"/>
          </a:xfrm>
          <a:prstGeom prst="line">
            <a:avLst/>
          </a:prstGeom>
          <a:noFill/>
          <a:ln w="15240">
            <a:solidFill>
              <a:srgbClr val="8795AA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327648" y="3730752"/>
            <a:ext cx="1444752" cy="640080"/>
          </a:xfrm>
          <a:prstGeom prst="roundRect">
            <a:avLst>
              <a:gd name="adj" fmla="val 11429"/>
            </a:avLst>
          </a:prstGeom>
          <a:solidFill>
            <a:srgbClr val="F1F5FF"/>
          </a:solidFill>
          <a:ln w="12700">
            <a:solidFill>
              <a:srgbClr val="2155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82512" y="3904488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Human Approval</a:t>
            </a:r>
            <a:endParaRPr lang="en-US" sz="1180" dirty="0"/>
          </a:p>
        </p:txBody>
      </p:sp>
      <p:sp>
        <p:nvSpPr>
          <p:cNvPr id="35" name="Shape 33"/>
          <p:cNvSpPr/>
          <p:nvPr/>
        </p:nvSpPr>
        <p:spPr>
          <a:xfrm>
            <a:off x="7799832" y="4050792"/>
            <a:ext cx="228600" cy="0"/>
          </a:xfrm>
          <a:prstGeom prst="line">
            <a:avLst/>
          </a:prstGeom>
          <a:noFill/>
          <a:ln w="15240">
            <a:solidFill>
              <a:srgbClr val="8795AA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074152" y="3730752"/>
            <a:ext cx="1444752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29016" y="3904488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Action</a:t>
            </a:r>
            <a:endParaRPr lang="en-US" sz="1180" dirty="0"/>
          </a:p>
        </p:txBody>
      </p:sp>
      <p:sp>
        <p:nvSpPr>
          <p:cNvPr id="38" name="Shape 36"/>
          <p:cNvSpPr/>
          <p:nvPr/>
        </p:nvSpPr>
        <p:spPr>
          <a:xfrm>
            <a:off x="9546336" y="4050792"/>
            <a:ext cx="228600" cy="0"/>
          </a:xfrm>
          <a:prstGeom prst="line">
            <a:avLst/>
          </a:prstGeom>
          <a:noFill/>
          <a:ln w="15240">
            <a:solidFill>
              <a:srgbClr val="8795AA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820656" y="3730752"/>
            <a:ext cx="1444752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875520" y="3904488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Verification</a:t>
            </a:r>
            <a:endParaRPr lang="en-US" sz="1180" dirty="0"/>
          </a:p>
        </p:txBody>
      </p:sp>
      <p:sp>
        <p:nvSpPr>
          <p:cNvPr id="41" name="Shape 39"/>
          <p:cNvSpPr/>
          <p:nvPr/>
        </p:nvSpPr>
        <p:spPr>
          <a:xfrm>
            <a:off x="621792" y="4736592"/>
            <a:ext cx="340156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4910328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竞争假设</a:t>
            </a:r>
            <a:endParaRPr lang="en-US" sz="1320" dirty="0"/>
          </a:p>
        </p:txBody>
      </p:sp>
      <p:sp>
        <p:nvSpPr>
          <p:cNvPr id="43" name="Text 41"/>
          <p:cNvSpPr/>
          <p:nvPr/>
        </p:nvSpPr>
        <p:spPr>
          <a:xfrm>
            <a:off x="822960" y="523951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同时保留多个可能原因，主动寻找支持与反驳证据。</a:t>
            </a:r>
            <a:endParaRPr lang="en-US" sz="1130" dirty="0"/>
          </a:p>
        </p:txBody>
      </p:sp>
      <p:sp>
        <p:nvSpPr>
          <p:cNvPr id="44" name="Shape 42"/>
          <p:cNvSpPr/>
          <p:nvPr/>
        </p:nvSpPr>
        <p:spPr>
          <a:xfrm>
            <a:off x="4306824" y="4736592"/>
            <a:ext cx="3401568" cy="1005840"/>
          </a:xfrm>
          <a:prstGeom prst="roundRect">
            <a:avLst>
              <a:gd name="adj" fmla="val 7273"/>
            </a:avLst>
          </a:prstGeom>
          <a:solidFill>
            <a:srgbClr val="F1F5FF"/>
          </a:solidFill>
          <a:ln w="12700">
            <a:solidFill>
              <a:srgbClr val="2155F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07992" y="4910328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215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Evidence-first</a:t>
            </a:r>
            <a:endParaRPr lang="en-US" sz="1320" dirty="0"/>
          </a:p>
        </p:txBody>
      </p:sp>
      <p:sp>
        <p:nvSpPr>
          <p:cNvPr id="46" name="Text 44"/>
          <p:cNvSpPr/>
          <p:nvPr/>
        </p:nvSpPr>
        <p:spPr>
          <a:xfrm>
            <a:off x="4507992" y="523951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每个结论必须回溯到 ToolResult 产生的 Evidence。</a:t>
            </a:r>
            <a:endParaRPr lang="en-US" sz="1130" dirty="0"/>
          </a:p>
        </p:txBody>
      </p:sp>
      <p:sp>
        <p:nvSpPr>
          <p:cNvPr id="47" name="Shape 45"/>
          <p:cNvSpPr/>
          <p:nvPr/>
        </p:nvSpPr>
        <p:spPr>
          <a:xfrm>
            <a:off x="7991856" y="4736592"/>
            <a:ext cx="340156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93024" y="4910328"/>
            <a:ext cx="2971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Human-in-the-loop</a:t>
            </a:r>
            <a:endParaRPr lang="en-US" sz="1320" dirty="0"/>
          </a:p>
        </p:txBody>
      </p:sp>
      <p:sp>
        <p:nvSpPr>
          <p:cNvPr id="49" name="Text 47"/>
          <p:cNvSpPr/>
          <p:nvPr/>
        </p:nvSpPr>
        <p:spPr>
          <a:xfrm>
            <a:off x="8193024" y="523951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高风险外部动作冻结参数并等待一次明确审批。</a:t>
            </a:r>
            <a:endParaRPr lang="en-US" sz="1130" dirty="0"/>
          </a:p>
        </p:txBody>
      </p:sp>
      <p:sp>
        <p:nvSpPr>
          <p:cNvPr id="50" name="Text 48"/>
          <p:cNvSpPr/>
          <p:nvPr/>
        </p:nvSpPr>
        <p:spPr>
          <a:xfrm>
            <a:off x="658368" y="5989320"/>
            <a:ext cx="10835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C8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运行支撑：Agent Loop · Tool Adapter · Approval · Verification · Benchmark · Harness · Scorer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C87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215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METRICS &amp; BENCHMARK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用任务完成、诊断质量、可信度、效率与人机协同共同评估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评测目标不是“模型说得像不像”，而是 Agent 能否在约束内完成一次有据可查的调查。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21792" y="1737360"/>
            <a:ext cx="208483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737360"/>
            <a:ext cx="54864" cy="1170432"/>
          </a:xfrm>
          <a:prstGeom prst="rect">
            <a:avLst/>
          </a:prstGeom>
          <a:solidFill>
            <a:srgbClr val="215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74520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Benchmark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130552"/>
            <a:ext cx="1764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Case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22960" y="2606040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C8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完成 · 2 失败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34640" y="1737360"/>
            <a:ext cx="208483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34640" y="1737360"/>
            <a:ext cx="54864" cy="1170432"/>
          </a:xfrm>
          <a:prstGeom prst="rect">
            <a:avLst/>
          </a:prstGeom>
          <a:solidFill>
            <a:srgbClr val="4E7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35808" y="1874520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全链路完成率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035808" y="2130552"/>
            <a:ext cx="1764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90%+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035808" y="2606040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C8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End-to-End Completion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47488" y="1737360"/>
            <a:ext cx="208483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47488" y="1737360"/>
            <a:ext cx="54864" cy="1170432"/>
          </a:xfrm>
          <a:prstGeom prst="rect">
            <a:avLst/>
          </a:prstGeom>
          <a:solidFill>
            <a:srgbClr val="1E8FB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48656" y="1874520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根因识别准确率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248656" y="2130552"/>
            <a:ext cx="1764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75–85%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248656" y="2606040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C8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Root Cause Accuracy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260336" y="1737360"/>
            <a:ext cx="208483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60336" y="1737360"/>
            <a:ext cx="54864" cy="1170432"/>
          </a:xfrm>
          <a:prstGeom prst="rect">
            <a:avLst/>
          </a:prstGeom>
          <a:solidFill>
            <a:srgbClr val="102A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61504" y="1874520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有据结论率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461504" y="2130552"/>
            <a:ext cx="1764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90%+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461504" y="2606040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C8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Evidence-grounded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473184" y="1737360"/>
            <a:ext cx="208483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73184" y="1737360"/>
            <a:ext cx="54864" cy="1170432"/>
          </a:xfrm>
          <a:prstGeom prst="rect">
            <a:avLst/>
          </a:prstGeom>
          <a:solidFill>
            <a:srgbClr val="D48A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74352" y="1874520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无需人工纠偏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674352" y="2130552"/>
            <a:ext cx="1764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70%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9674352" y="2606040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C8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No-intervention Rate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" y="3246120"/>
            <a:ext cx="4681728" cy="2404872"/>
          </a:xfrm>
          <a:prstGeom prst="roundRect">
            <a:avLst>
              <a:gd name="adj" fmla="val 3042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7824" y="3520440"/>
            <a:ext cx="45720" cy="219456"/>
          </a:xfrm>
          <a:prstGeom prst="rect">
            <a:avLst/>
          </a:prstGeom>
          <a:solidFill>
            <a:srgbClr val="215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" y="34747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效率对比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68680" y="39319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8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30 分钟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969264" y="440740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C8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人工跨系统调查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688336" y="4160520"/>
            <a:ext cx="539496" cy="0"/>
          </a:xfrm>
          <a:prstGeom prst="line">
            <a:avLst/>
          </a:prstGeom>
          <a:noFill/>
          <a:ln w="30480">
            <a:solidFill>
              <a:srgbClr val="2155F5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3246120" y="39319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5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5–8 分钟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3383280" y="440740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15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调查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60120" y="4937760"/>
            <a:ext cx="4005072" cy="438912"/>
          </a:xfrm>
          <a:prstGeom prst="roundRect">
            <a:avLst>
              <a:gd name="adj" fmla="val 16667"/>
            </a:avLst>
          </a:prstGeom>
          <a:solidFill>
            <a:srgbClr val="F1F5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52144" y="5038344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5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效率提升来自流程自动化与有界工具调用，不来自省略证据。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504688" y="3246120"/>
            <a:ext cx="6053328" cy="2404872"/>
          </a:xfrm>
          <a:prstGeom prst="roundRect">
            <a:avLst>
              <a:gd name="adj" fmla="val 3042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760720" y="3520440"/>
            <a:ext cx="45720" cy="219456"/>
          </a:xfrm>
          <a:prstGeom prst="rect">
            <a:avLst/>
          </a:prstGeom>
          <a:solidFill>
            <a:srgbClr val="215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88736" y="34747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评测闭环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806440" y="3995928"/>
            <a:ext cx="658368" cy="658368"/>
          </a:xfrm>
          <a:prstGeom prst="ellipse">
            <a:avLst/>
          </a:prstGeom>
          <a:solidFill>
            <a:srgbClr val="EAF0FF"/>
          </a:solidFill>
          <a:ln w="12700">
            <a:solidFill>
              <a:srgbClr val="BED0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06440" y="416052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5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577840" y="4745736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532120" y="5038344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C8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输入与期望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528816" y="4325112"/>
            <a:ext cx="539496" cy="0"/>
          </a:xfrm>
          <a:prstGeom prst="line">
            <a:avLst/>
          </a:prstGeom>
          <a:noFill/>
          <a:ln w="15240">
            <a:solidFill>
              <a:srgbClr val="9AA8BF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178040" y="3995928"/>
            <a:ext cx="658368" cy="658368"/>
          </a:xfrm>
          <a:prstGeom prst="ellipse">
            <a:avLst/>
          </a:prstGeom>
          <a:solidFill>
            <a:srgbClr val="EAF0FF"/>
          </a:solidFill>
          <a:ln w="12700">
            <a:solidFill>
              <a:srgbClr val="BED0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78040" y="416052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5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949440" y="4745736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6903720" y="5038344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C8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固定约束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900416" y="4325112"/>
            <a:ext cx="539496" cy="0"/>
          </a:xfrm>
          <a:prstGeom prst="line">
            <a:avLst/>
          </a:prstGeom>
          <a:noFill/>
          <a:ln w="15240">
            <a:solidFill>
              <a:srgbClr val="9AA8BF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8549640" y="3995928"/>
            <a:ext cx="658368" cy="658368"/>
          </a:xfrm>
          <a:prstGeom prst="ellipse">
            <a:avLst/>
          </a:prstGeom>
          <a:solidFill>
            <a:srgbClr val="2155F5"/>
          </a:solidFill>
          <a:ln w="12700">
            <a:solidFill>
              <a:srgbClr val="2155F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549640" y="416052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8321040" y="4745736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Run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8275320" y="5038344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C8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保留轨迹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9272016" y="4325112"/>
            <a:ext cx="539496" cy="0"/>
          </a:xfrm>
          <a:prstGeom prst="line">
            <a:avLst/>
          </a:prstGeom>
          <a:noFill/>
          <a:ln w="15240">
            <a:solidFill>
              <a:srgbClr val="9AA8BF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9921240" y="3995928"/>
            <a:ext cx="658368" cy="658368"/>
          </a:xfrm>
          <a:prstGeom prst="ellipse">
            <a:avLst/>
          </a:prstGeom>
          <a:solidFill>
            <a:srgbClr val="EAF0FF"/>
          </a:solidFill>
          <a:ln w="12700">
            <a:solidFill>
              <a:srgbClr val="BED0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921240" y="416052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5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9692640" y="4745736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Scorer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9646920" y="5038344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C8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 + Case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58368" y="5907024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7C8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数据口径：项目 22-case 确定性 Benchmark 与提供的评测汇总；合成/可复现实验数据，不代表生产流量。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C87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215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FAILURE CASE · CASE-205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一次失败 Case，暴露的不是“模型笨”，而是执行约束不充分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 region 分段返回 EMPTY，Planner 仍沿错误方向继续推理；修复重点因此落在 Harness 与语义校验机制。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1755648"/>
            <a:ext cx="2670048" cy="4050792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1984248"/>
            <a:ext cx="987552" cy="256032"/>
          </a:xfrm>
          <a:prstGeom prst="roundRect">
            <a:avLst>
              <a:gd name="adj" fmla="val 50000"/>
            </a:avLst>
          </a:prstGeom>
          <a:solidFill>
            <a:srgbClr val="FFF0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" y="1993392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84A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问题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8096" y="2432304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第一次运行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4672" y="3145536"/>
            <a:ext cx="109728" cy="109728"/>
          </a:xfrm>
          <a:prstGeom prst="ellipse">
            <a:avLst/>
          </a:prstGeom>
          <a:solidFill>
            <a:srgbClr val="D84A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05409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次模型调用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" y="3547872"/>
            <a:ext cx="109728" cy="109728"/>
          </a:xfrm>
          <a:prstGeom prst="ellipse">
            <a:avLst/>
          </a:prstGeom>
          <a:solidFill>
            <a:srgbClr val="D84A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45643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次工具调用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" y="3950208"/>
            <a:ext cx="109728" cy="109728"/>
          </a:xfrm>
          <a:prstGeom prst="ellipse">
            <a:avLst/>
          </a:prstGeom>
          <a:solidFill>
            <a:srgbClr val="D84A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85876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361 秒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" y="4352544"/>
            <a:ext cx="109728" cy="109728"/>
          </a:xfrm>
          <a:prstGeom prst="ellipse">
            <a:avLst/>
          </a:prstGeom>
          <a:solidFill>
            <a:srgbClr val="D84A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26110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PRODUCT_METRIC → SUCCESS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4672" y="4754880"/>
            <a:ext cx="109728" cy="109728"/>
          </a:xfrm>
          <a:prstGeom prst="ellipse">
            <a:avLst/>
          </a:prstGeom>
          <a:solidFill>
            <a:srgbClr val="D84A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66344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region → EMPTY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4672" y="5157216"/>
            <a:ext cx="109728" cy="109728"/>
          </a:xfrm>
          <a:prstGeom prst="ellipse">
            <a:avLst/>
          </a:prstGeom>
          <a:solidFill>
            <a:srgbClr val="D84A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506577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终止：语义校验失败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64408" y="3813048"/>
            <a:ext cx="146304" cy="0"/>
          </a:xfrm>
          <a:prstGeom prst="line">
            <a:avLst/>
          </a:prstGeom>
          <a:noFill/>
          <a:ln w="15240">
            <a:solidFill>
              <a:srgbClr val="99A6B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456432" y="1755648"/>
            <a:ext cx="2670048" cy="4050792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0" y="1984248"/>
            <a:ext cx="987552" cy="256032"/>
          </a:xfrm>
          <a:prstGeom prst="roundRect">
            <a:avLst>
              <a:gd name="adj" fmla="val 50000"/>
            </a:avLst>
          </a:prstGeom>
          <a:solidFill>
            <a:srgbClr val="FFF7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03320" y="1993392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48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原因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0" y="2432304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错误调查方向未被及时切断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694176" y="3145536"/>
            <a:ext cx="109728" cy="109728"/>
          </a:xfrm>
          <a:prstGeom prst="ellipse">
            <a:avLst/>
          </a:prstGeom>
          <a:solidFill>
            <a:srgbClr val="D48A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95344" y="305409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EMPTY 仍消耗预算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694176" y="3547872"/>
            <a:ext cx="109728" cy="109728"/>
          </a:xfrm>
          <a:prstGeom prst="ellipse">
            <a:avLst/>
          </a:prstGeom>
          <a:solidFill>
            <a:srgbClr val="D48A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95344" y="345643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 AFFECTED_SEGMENT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694176" y="3950208"/>
            <a:ext cx="109728" cy="109728"/>
          </a:xfrm>
          <a:prstGeom prst="ellipse">
            <a:avLst/>
          </a:prstGeom>
          <a:solidFill>
            <a:srgbClr val="D48A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95344" y="385876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Repair context 信息不足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694176" y="4352544"/>
            <a:ext cx="109728" cy="109728"/>
          </a:xfrm>
          <a:prstGeom prst="ellipse">
            <a:avLst/>
          </a:prstGeom>
          <a:solidFill>
            <a:srgbClr val="D48A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95344" y="426110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Known Slice 未注入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53912" y="3813048"/>
            <a:ext cx="146304" cy="0"/>
          </a:xfrm>
          <a:prstGeom prst="line">
            <a:avLst/>
          </a:prstGeom>
          <a:noFill/>
          <a:ln w="15240">
            <a:solidFill>
              <a:srgbClr val="99A6B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345936" y="1755648"/>
            <a:ext cx="2670048" cy="4050792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2155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47104" y="1984248"/>
            <a:ext cx="987552" cy="256032"/>
          </a:xfrm>
          <a:prstGeom prst="roundRect">
            <a:avLst>
              <a:gd name="adj" fmla="val 50000"/>
            </a:avLst>
          </a:prstGeom>
          <a:solidFill>
            <a:srgbClr val="F1F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92824" y="1993392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5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机制优化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547104" y="2432304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把失败变成可执行规则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583680" y="3145536"/>
            <a:ext cx="109728" cy="109728"/>
          </a:xfrm>
          <a:prstGeom prst="ellipse">
            <a:avLst/>
          </a:prstGeom>
          <a:solidFill>
            <a:srgbClr val="215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84848" y="305409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 Harness selector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583680" y="3547872"/>
            <a:ext cx="109728" cy="109728"/>
          </a:xfrm>
          <a:prstGeom prst="ellipse">
            <a:avLst/>
          </a:prstGeom>
          <a:solidFill>
            <a:srgbClr val="215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84848" y="345643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EMPTY 不继续耗预算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583680" y="3950208"/>
            <a:ext cx="109728" cy="109728"/>
          </a:xfrm>
          <a:prstGeom prst="ellipse">
            <a:avLst/>
          </a:prstGeom>
          <a:solidFill>
            <a:srgbClr val="215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84848" y="385876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 INVALID_SEGMENT_GROUNDING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583680" y="4352544"/>
            <a:ext cx="109728" cy="109728"/>
          </a:xfrm>
          <a:prstGeom prst="ellipse">
            <a:avLst/>
          </a:prstGeom>
          <a:solidFill>
            <a:srgbClr val="215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84848" y="426110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 Evidence mapping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583680" y="4754880"/>
            <a:ext cx="109728" cy="109728"/>
          </a:xfrm>
          <a:prstGeom prst="ellipse">
            <a:avLst/>
          </a:prstGeom>
          <a:solidFill>
            <a:srgbClr val="215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84848" y="466344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 EMPTY + Known Slice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583680" y="5157216"/>
            <a:ext cx="109728" cy="109728"/>
          </a:xfrm>
          <a:prstGeom prst="ellipse">
            <a:avLst/>
          </a:prstGeom>
          <a:solidFill>
            <a:srgbClr val="215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84848" y="506577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Desktop / 6.5.0 / upload_success_rate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9043416" y="3813048"/>
            <a:ext cx="146304" cy="0"/>
          </a:xfrm>
          <a:prstGeom prst="line">
            <a:avLst/>
          </a:prstGeom>
          <a:noFill/>
          <a:ln w="15240">
            <a:solidFill>
              <a:srgbClr val="99A6B9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9235440" y="1755648"/>
            <a:ext cx="2670048" cy="4050792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436608" y="1984248"/>
            <a:ext cx="987552" cy="256032"/>
          </a:xfrm>
          <a:prstGeom prst="roundRect">
            <a:avLst>
              <a:gd name="adj" fmla="val 50000"/>
            </a:avLst>
          </a:prstGeom>
          <a:solidFill>
            <a:srgbClr val="EEF2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482328" y="1993392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结果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436608" y="2432304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Deterministic replay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473184" y="3145536"/>
            <a:ext cx="109728" cy="109728"/>
          </a:xfrm>
          <a:prstGeom prst="ellipse">
            <a:avLst/>
          </a:prstGeom>
          <a:solidFill>
            <a:srgbClr val="102A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674352" y="305409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次模型调用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9473184" y="3547872"/>
            <a:ext cx="109728" cy="109728"/>
          </a:xfrm>
          <a:prstGeom prst="ellipse">
            <a:avLst/>
          </a:prstGeom>
          <a:solidFill>
            <a:srgbClr val="102A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674352" y="345643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次工具调用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9473184" y="3950208"/>
            <a:ext cx="109728" cy="109728"/>
          </a:xfrm>
          <a:prstGeom prst="ellipse">
            <a:avLst/>
          </a:prstGeom>
          <a:solidFill>
            <a:srgbClr val="102A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674352" y="385876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212 秒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9473184" y="4352544"/>
            <a:ext cx="109728" cy="109728"/>
          </a:xfrm>
          <a:prstGeom prst="ellipse">
            <a:avLst/>
          </a:prstGeom>
          <a:solidFill>
            <a:srgbClr val="102A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674352" y="426110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删除错误 Segment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9473184" y="4754880"/>
            <a:ext cx="109728" cy="109728"/>
          </a:xfrm>
          <a:prstGeom prst="ellipse">
            <a:avLst/>
          </a:prstGeom>
          <a:solidFill>
            <a:srgbClr val="102A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674352" y="466344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 FINALIZE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9473184" y="5157216"/>
            <a:ext cx="109728" cy="109728"/>
          </a:xfrm>
          <a:prstGeom prst="ellipse">
            <a:avLst/>
          </a:prstGeom>
          <a:solidFill>
            <a:srgbClr val="102A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674352" y="506577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终态：INCONCLUSIVE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822960" y="5961888"/>
            <a:ext cx="10497312" cy="356616"/>
          </a:xfrm>
          <a:prstGeom prst="roundRect">
            <a:avLst>
              <a:gd name="adj" fmla="val 20513"/>
            </a:avLst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24128" y="6035040"/>
            <a:ext cx="10058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INCONCLUSIVE ≠ 失败：证据不足时拒绝制造“看似合理”的根因，是可信 Agent 的产品能力。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C87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215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02 · AI 智能客服质检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负责理解隐性语义，规则负责稳定边界，人负责最终裁决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产品目标不是替代质检员，而是扩大覆盖、统一初判，并把争议 Case 送入可追溯的复核流程。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1719072"/>
            <a:ext cx="2788920" cy="4361688"/>
          </a:xfrm>
          <a:prstGeom prst="roundRect">
            <a:avLst>
              <a:gd name="adj" fmla="val 2623"/>
            </a:avLst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993392"/>
            <a:ext cx="932688" cy="256032"/>
          </a:xfrm>
          <a:prstGeom prst="roundRect">
            <a:avLst>
              <a:gd name="adj" fmla="val 50000"/>
            </a:avLst>
          </a:prstGeom>
          <a:solidFill>
            <a:srgbClr val="24477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00253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业务问题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41248" y="2450592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传统人工抽检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3063240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9EB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80160" y="3035808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覆盖率低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84832" y="303580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C7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只能抽样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368503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9EB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280160" y="3657600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标准不一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84832" y="365760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C7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判断依赖经验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68680" y="4306824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9EB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280160" y="4279392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隐性违规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084832" y="427939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C7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关键词难捕捉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8680" y="492861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9EB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280160" y="4901184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复核成本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084832" y="490118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9C7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上下文回看耗时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41248" y="5486400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D7E0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产品判断：高覆盖不等于高可信，必须保留人工复核与版本化结果。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3602736" y="1719072"/>
            <a:ext cx="8019288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67912" y="2011680"/>
            <a:ext cx="45720" cy="219456"/>
          </a:xfrm>
          <a:prstGeom prst="rect">
            <a:avLst/>
          </a:prstGeom>
          <a:solidFill>
            <a:srgbClr val="215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95928" y="19659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产品工作流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858768" y="2514600"/>
            <a:ext cx="859536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13632" y="2706624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会话数据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27448" y="2871216"/>
            <a:ext cx="155448" cy="0"/>
          </a:xfrm>
          <a:prstGeom prst="line">
            <a:avLst/>
          </a:prstGeom>
          <a:noFill/>
          <a:ln w="13970">
            <a:solidFill>
              <a:srgbClr val="94A2B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919472" y="2514600"/>
            <a:ext cx="859536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74336" y="2706624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规则初筛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788152" y="2871216"/>
            <a:ext cx="155448" cy="0"/>
          </a:xfrm>
          <a:prstGeom prst="line">
            <a:avLst/>
          </a:prstGeom>
          <a:noFill/>
          <a:ln w="13970">
            <a:solidFill>
              <a:srgbClr val="94A2B6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980176" y="2514600"/>
            <a:ext cx="859536" cy="713232"/>
          </a:xfrm>
          <a:prstGeom prst="roundRect">
            <a:avLst>
              <a:gd name="adj" fmla="val 10256"/>
            </a:avLst>
          </a:prstGeom>
          <a:solidFill>
            <a:srgbClr val="F1F5FF"/>
          </a:solidFill>
          <a:ln w="12700">
            <a:solidFill>
              <a:srgbClr val="2155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2706624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语义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48856" y="2871216"/>
            <a:ext cx="155448" cy="0"/>
          </a:xfrm>
          <a:prstGeom prst="line">
            <a:avLst/>
          </a:prstGeom>
          <a:noFill/>
          <a:ln w="13970">
            <a:solidFill>
              <a:srgbClr val="94A2B6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040880" y="2514600"/>
            <a:ext cx="859536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95744" y="2706624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违规/风险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909560" y="2871216"/>
            <a:ext cx="155448" cy="0"/>
          </a:xfrm>
          <a:prstGeom prst="line">
            <a:avLst/>
          </a:prstGeom>
          <a:noFill/>
          <a:ln w="13970">
            <a:solidFill>
              <a:srgbClr val="94A2B6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101584" y="2514600"/>
            <a:ext cx="859536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56448" y="2706624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扣分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970264" y="2871216"/>
            <a:ext cx="155448" cy="0"/>
          </a:xfrm>
          <a:prstGeom prst="line">
            <a:avLst/>
          </a:prstGeom>
          <a:noFill/>
          <a:ln w="13970">
            <a:solidFill>
              <a:srgbClr val="94A2B6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162288" y="2514600"/>
            <a:ext cx="859536" cy="713232"/>
          </a:xfrm>
          <a:prstGeom prst="roundRect">
            <a:avLst>
              <a:gd name="adj" fmla="val 10256"/>
            </a:avLst>
          </a:prstGeom>
          <a:solidFill>
            <a:srgbClr val="F1F5FF"/>
          </a:solidFill>
          <a:ln w="12700">
            <a:solidFill>
              <a:srgbClr val="2155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17152" y="2706624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人工复核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0030968" y="2871216"/>
            <a:ext cx="155448" cy="0"/>
          </a:xfrm>
          <a:prstGeom prst="line">
            <a:avLst/>
          </a:prstGeom>
          <a:noFill/>
          <a:ln w="13970">
            <a:solidFill>
              <a:srgbClr val="94A2B6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10222992" y="2514600"/>
            <a:ext cx="859536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277856" y="2706624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最终结果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28032" y="336499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C8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规则：关键词 / 正则 / SOP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473952" y="336499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7C8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覆盖：质检概览 · 会话管理 · 规则 / 方案 / 任务 · 结果复核 · 离线评测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602736" y="4160520"/>
            <a:ext cx="801928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867912" y="4453128"/>
            <a:ext cx="45720" cy="219456"/>
          </a:xfrm>
          <a:prstGeom prst="rect">
            <a:avLst/>
          </a:prstGeom>
          <a:solidFill>
            <a:srgbClr val="215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95928" y="440740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 Case · 隐性推诿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913632" y="4846320"/>
            <a:ext cx="2029968" cy="841248"/>
          </a:xfrm>
          <a:prstGeom prst="roundRect">
            <a:avLst>
              <a:gd name="adj" fmla="val 8696"/>
            </a:avLst>
          </a:prstGeom>
          <a:solidFill>
            <a:srgbClr val="F1F5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05656" y="497433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15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初始判断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105656" y="52669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中度违规  ·  扣 10 分  ·  90 分</a:t>
            </a:r>
            <a:endParaRPr lang="en-US" sz="1220" dirty="0"/>
          </a:p>
        </p:txBody>
      </p:sp>
      <p:sp>
        <p:nvSpPr>
          <p:cNvPr id="53" name="Shape 51"/>
          <p:cNvSpPr/>
          <p:nvPr/>
        </p:nvSpPr>
        <p:spPr>
          <a:xfrm>
            <a:off x="6062472" y="5266944"/>
            <a:ext cx="548640" cy="0"/>
          </a:xfrm>
          <a:prstGeom prst="line">
            <a:avLst/>
          </a:prstGeom>
          <a:noFill/>
          <a:ln w="22860">
            <a:solidFill>
              <a:srgbClr val="2155F5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6748272" y="4846320"/>
            <a:ext cx="202996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2155F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40296" y="497433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15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人工复核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940296" y="52669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轻度违规  ·  扣 5 分  ·  95 分</a:t>
            </a:r>
            <a:endParaRPr lang="en-US" sz="1220" dirty="0"/>
          </a:p>
        </p:txBody>
      </p:sp>
      <p:sp>
        <p:nvSpPr>
          <p:cNvPr id="57" name="Shape 55"/>
          <p:cNvSpPr/>
          <p:nvPr/>
        </p:nvSpPr>
        <p:spPr>
          <a:xfrm>
            <a:off x="9025128" y="4764024"/>
            <a:ext cx="2267712" cy="1005840"/>
          </a:xfrm>
          <a:prstGeom prst="roundRect">
            <a:avLst>
              <a:gd name="adj" fmla="val 7273"/>
            </a:avLst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290304" y="498348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原始结果保留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人工结果独立记录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6446520" y="581558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5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Human-in-the-loop + 可追溯性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C87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215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EVALUATION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不是只看 Accuracy，而是同时检查指标与错误 Case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客服违规识别中，漏掉真实违规（FN）往往比误报更危险，因此 Recall 与 FN Review 必须进入产品决策。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4617720" cy="4334256"/>
          </a:xfrm>
          <a:prstGeom prst="roundRect">
            <a:avLst>
              <a:gd name="adj" fmla="val 1688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2029968"/>
            <a:ext cx="45720" cy="219456"/>
          </a:xfrm>
          <a:prstGeom prst="rect">
            <a:avLst/>
          </a:prstGeom>
          <a:solidFill>
            <a:srgbClr val="215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98424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Confusion Matrix · N=20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64992" y="1993392"/>
            <a:ext cx="1353312" cy="256032"/>
          </a:xfrm>
          <a:prstGeom prst="roundRect">
            <a:avLst>
              <a:gd name="adj" fmla="val 50000"/>
            </a:avLst>
          </a:prstGeom>
          <a:solidFill>
            <a:srgbClr val="EAF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10712" y="2002536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5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 Gold Label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85416" y="245059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8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预测结果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3273552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8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7C8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2788920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违规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182112" y="2788920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371600" y="322783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违规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371600" y="422452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828800" y="3108960"/>
            <a:ext cx="1261872" cy="841248"/>
          </a:xfrm>
          <a:prstGeom prst="roundRect">
            <a:avLst>
              <a:gd name="adj" fmla="val 8696"/>
            </a:avLst>
          </a:prstGeom>
          <a:solidFill>
            <a:srgbClr val="F1F5FF"/>
          </a:solidFill>
          <a:ln w="12700">
            <a:solidFill>
              <a:srgbClr val="F1F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38528" y="32278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15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414016" y="331012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5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3182112" y="3108960"/>
            <a:ext cx="1261872" cy="841248"/>
          </a:xfrm>
          <a:prstGeom prst="roundRect">
            <a:avLst>
              <a:gd name="adj" fmla="val 8696"/>
            </a:avLst>
          </a:prstGeom>
          <a:solidFill>
            <a:srgbClr val="FFF0F2"/>
          </a:solidFill>
          <a:ln w="12700">
            <a:solidFill>
              <a:srgbClr val="FFF0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32278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84A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767328" y="331012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D84A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828800" y="4096512"/>
            <a:ext cx="1261872" cy="841248"/>
          </a:xfrm>
          <a:prstGeom prst="roundRect">
            <a:avLst>
              <a:gd name="adj" fmla="val 8696"/>
            </a:avLst>
          </a:prstGeom>
          <a:solidFill>
            <a:srgbClr val="FFF7E8"/>
          </a:solidFill>
          <a:ln w="12700">
            <a:solidFill>
              <a:srgbClr val="FFF7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38528" y="421538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48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414016" y="42976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D48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3182112" y="4096512"/>
            <a:ext cx="1261872" cy="841248"/>
          </a:xfrm>
          <a:prstGeom prst="roundRect">
            <a:avLst>
              <a:gd name="adj" fmla="val 869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421538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767328" y="42976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1389888" y="5230368"/>
            <a:ext cx="3310128" cy="457200"/>
          </a:xfrm>
          <a:prstGeom prst="roundRect">
            <a:avLst>
              <a:gd name="adj" fmla="val 16000"/>
            </a:avLst>
          </a:prstGeom>
          <a:solidFill>
            <a:srgbClr val="FFF0F2"/>
          </a:solidFill>
          <a:ln w="12700">
            <a:solidFill>
              <a:srgbClr val="FFF0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72768" y="5340096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84A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重点：逐条 Review FN，定位漏检与规则边界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31536" y="1737360"/>
            <a:ext cx="144475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31536" y="1737360"/>
            <a:ext cx="54864" cy="1170432"/>
          </a:xfrm>
          <a:prstGeom prst="rect">
            <a:avLst/>
          </a:prstGeom>
          <a:solidFill>
            <a:srgbClr val="215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32704" y="1874520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Accuracy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632704" y="2130552"/>
            <a:ext cx="1124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90.0%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5632704" y="2606040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C8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整体正确率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013448" y="1737360"/>
            <a:ext cx="144475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13448" y="1737360"/>
            <a:ext cx="54864" cy="1170432"/>
          </a:xfrm>
          <a:prstGeom prst="rect">
            <a:avLst/>
          </a:prstGeom>
          <a:solidFill>
            <a:srgbClr val="4E7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14616" y="1874520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Precision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214616" y="2130552"/>
            <a:ext cx="1124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0.909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7214616" y="2606040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C8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误报控制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595360" y="1737360"/>
            <a:ext cx="144475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595360" y="1737360"/>
            <a:ext cx="54864" cy="1170432"/>
          </a:xfrm>
          <a:prstGeom prst="rect">
            <a:avLst/>
          </a:prstGeom>
          <a:solidFill>
            <a:srgbClr val="D84A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96528" y="1874520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Recall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8796528" y="2130552"/>
            <a:ext cx="1124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0.909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8796528" y="2606040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C8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漏报控制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0177272" y="1737360"/>
            <a:ext cx="144475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177272" y="1737360"/>
            <a:ext cx="54864" cy="1170432"/>
          </a:xfrm>
          <a:prstGeom prst="rect">
            <a:avLst/>
          </a:prstGeom>
          <a:solidFill>
            <a:srgbClr val="102A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378440" y="1874520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10378440" y="2130552"/>
            <a:ext cx="1124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0.909</a:t>
            </a:r>
            <a:endParaRPr lang="en-US" sz="2800" dirty="0"/>
          </a:p>
        </p:txBody>
      </p:sp>
      <p:sp>
        <p:nvSpPr>
          <p:cNvPr id="49" name="Text 47"/>
          <p:cNvSpPr/>
          <p:nvPr/>
        </p:nvSpPr>
        <p:spPr>
          <a:xfrm>
            <a:off x="10378440" y="2606040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C8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综合平衡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431536" y="3246120"/>
            <a:ext cx="6190488" cy="2825496"/>
          </a:xfrm>
          <a:prstGeom prst="roundRect">
            <a:avLst>
              <a:gd name="adj" fmla="val 2589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715000" y="3566160"/>
            <a:ext cx="45720" cy="219456"/>
          </a:xfrm>
          <a:prstGeom prst="rect">
            <a:avLst/>
          </a:prstGeom>
          <a:solidFill>
            <a:srgbClr val="215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43016" y="35204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 + Case Review 的评测闭环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760720" y="4005072"/>
            <a:ext cx="310896" cy="310896"/>
          </a:xfrm>
          <a:prstGeom prst="ellipse">
            <a:avLst/>
          </a:prstGeom>
          <a:solidFill>
            <a:srgbClr val="215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60720" y="4014216"/>
            <a:ext cx="3108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208776" y="399592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看指标</a:t>
            </a:r>
            <a:endParaRPr lang="en-US" sz="1220" dirty="0"/>
          </a:p>
        </p:txBody>
      </p:sp>
      <p:sp>
        <p:nvSpPr>
          <p:cNvPr id="56" name="Text 54"/>
          <p:cNvSpPr/>
          <p:nvPr/>
        </p:nvSpPr>
        <p:spPr>
          <a:xfrm>
            <a:off x="7086600" y="3995928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Precision / Recall / F1 识别整体偏差</a:t>
            </a:r>
            <a:endParaRPr lang="en-US" sz="1120" dirty="0"/>
          </a:p>
        </p:txBody>
      </p:sp>
      <p:sp>
        <p:nvSpPr>
          <p:cNvPr id="57" name="Shape 55"/>
          <p:cNvSpPr/>
          <p:nvPr/>
        </p:nvSpPr>
        <p:spPr>
          <a:xfrm>
            <a:off x="5760720" y="4443984"/>
            <a:ext cx="310896" cy="310896"/>
          </a:xfrm>
          <a:prstGeom prst="ellipse">
            <a:avLst/>
          </a:prstGeom>
          <a:solidFill>
            <a:srgbClr val="D84A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760720" y="4453128"/>
            <a:ext cx="3108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208776" y="443484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拆错误</a:t>
            </a:r>
            <a:endParaRPr lang="en-US" sz="1220" dirty="0"/>
          </a:p>
        </p:txBody>
      </p:sp>
      <p:sp>
        <p:nvSpPr>
          <p:cNvPr id="60" name="Text 58"/>
          <p:cNvSpPr/>
          <p:nvPr/>
        </p:nvSpPr>
        <p:spPr>
          <a:xfrm>
            <a:off x="7086600" y="4434840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分别查看 FP 与 FN 的具体语义</a:t>
            </a:r>
            <a:endParaRPr lang="en-US" sz="1120" dirty="0"/>
          </a:p>
        </p:txBody>
      </p:sp>
      <p:sp>
        <p:nvSpPr>
          <p:cNvPr id="61" name="Shape 59"/>
          <p:cNvSpPr/>
          <p:nvPr/>
        </p:nvSpPr>
        <p:spPr>
          <a:xfrm>
            <a:off x="5760720" y="4882896"/>
            <a:ext cx="310896" cy="310896"/>
          </a:xfrm>
          <a:prstGeom prst="ellipse">
            <a:avLst/>
          </a:prstGeom>
          <a:solidFill>
            <a:srgbClr val="215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760720" y="4892040"/>
            <a:ext cx="3108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6208776" y="487375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改机制</a:t>
            </a:r>
            <a:endParaRPr lang="en-US" sz="1220" dirty="0"/>
          </a:p>
        </p:txBody>
      </p:sp>
      <p:sp>
        <p:nvSpPr>
          <p:cNvPr id="64" name="Text 62"/>
          <p:cNvSpPr/>
          <p:nvPr/>
        </p:nvSpPr>
        <p:spPr>
          <a:xfrm>
            <a:off x="7086600" y="4873752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调整规则、Prompt、阈值与复核策略</a:t>
            </a:r>
            <a:endParaRPr lang="en-US" sz="1120" dirty="0"/>
          </a:p>
        </p:txBody>
      </p:sp>
      <p:sp>
        <p:nvSpPr>
          <p:cNvPr id="65" name="Shape 63"/>
          <p:cNvSpPr/>
          <p:nvPr/>
        </p:nvSpPr>
        <p:spPr>
          <a:xfrm>
            <a:off x="5760720" y="5321808"/>
            <a:ext cx="310896" cy="310896"/>
          </a:xfrm>
          <a:prstGeom prst="ellipse">
            <a:avLst/>
          </a:prstGeom>
          <a:solidFill>
            <a:srgbClr val="215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760720" y="5330952"/>
            <a:ext cx="3108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6208776" y="531266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再评测</a:t>
            </a:r>
            <a:endParaRPr lang="en-US" sz="1220" dirty="0"/>
          </a:p>
        </p:txBody>
      </p:sp>
      <p:sp>
        <p:nvSpPr>
          <p:cNvPr id="68" name="Text 66"/>
          <p:cNvSpPr/>
          <p:nvPr/>
        </p:nvSpPr>
        <p:spPr>
          <a:xfrm>
            <a:off x="7086600" y="5312664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Gold Label，避免只看单次 Demo</a:t>
            </a:r>
            <a:endParaRPr lang="en-US" sz="1120" dirty="0"/>
          </a:p>
        </p:txBody>
      </p:sp>
      <p:sp>
        <p:nvSpPr>
          <p:cNvPr id="69" name="Shape 67"/>
          <p:cNvSpPr/>
          <p:nvPr/>
        </p:nvSpPr>
        <p:spPr>
          <a:xfrm>
            <a:off x="5715000" y="5742432"/>
            <a:ext cx="5623560" cy="182880"/>
          </a:xfrm>
          <a:prstGeom prst="roundRect">
            <a:avLst>
              <a:gd name="adj" fmla="val 40000"/>
            </a:avLst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C87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215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CAPABILITIES &amp; CONTACT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AI Demo 到可评测、可约束、可落地的 AI 产品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我能把业务问题转译为 AI 产品机制，并用指标、失败 Case 与人机协同边界持续迭代。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03504" y="1737360"/>
            <a:ext cx="2706624" cy="1143000"/>
          </a:xfrm>
          <a:prstGeom prst="roundRect">
            <a:avLst>
              <a:gd name="adj" fmla="val 6400"/>
            </a:avLst>
          </a:prstGeom>
          <a:solidFill>
            <a:srgbClr val="F1F5FF"/>
          </a:solidFill>
          <a:ln w="12700">
            <a:solidFill>
              <a:srgbClr val="2155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892808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15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79576" y="186537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产品设计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8096" y="2212848"/>
            <a:ext cx="2313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Workflow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/ LLM Application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Human-in-the-loop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3557016" y="1737360"/>
            <a:ext cx="2706624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21608" y="1892808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15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33088" y="186537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产品能力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2212848"/>
            <a:ext cx="2313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 · 用户场景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PRD / Workflow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产品指标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6510528" y="1737360"/>
            <a:ext cx="2706624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892808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15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086600" y="186537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工程理解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75120" y="2212848"/>
            <a:ext cx="2313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· Tool Calling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Structured Output · JSON Schema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Benchmark · Harness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603504" y="3127248"/>
            <a:ext cx="2706624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3282696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15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79576" y="325526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评测与迭代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68096" y="3602736"/>
            <a:ext cx="2313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Gold Label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Precision / Recall / F1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Failure Case Analysis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3557016" y="3127248"/>
            <a:ext cx="2706624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21608" y="3282696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15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33088" y="325526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项目落地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721608" y="3602736"/>
            <a:ext cx="2313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Prototype · Demo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Deployment · GitHub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56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可运行作品</a:t>
            </a:r>
            <a:endParaRPr lang="en-US" sz="1070" dirty="0"/>
          </a:p>
        </p:txBody>
      </p:sp>
      <p:sp>
        <p:nvSpPr>
          <p:cNvPr id="25" name="Shape 23"/>
          <p:cNvSpPr/>
          <p:nvPr/>
        </p:nvSpPr>
        <p:spPr>
          <a:xfrm>
            <a:off x="9436608" y="1737360"/>
            <a:ext cx="2176272" cy="2532888"/>
          </a:xfrm>
          <a:prstGeom prst="roundRect">
            <a:avLst>
              <a:gd name="adj" fmla="val 3361"/>
            </a:avLst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47504" y="202996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李超</a:t>
            </a:r>
            <a:endParaRPr lang="en-US" sz="2500" dirty="0"/>
          </a:p>
        </p:txBody>
      </p:sp>
      <p:sp>
        <p:nvSpPr>
          <p:cNvPr id="27" name="Text 25"/>
          <p:cNvSpPr/>
          <p:nvPr/>
        </p:nvSpPr>
        <p:spPr>
          <a:xfrm>
            <a:off x="9747504" y="2679192"/>
            <a:ext cx="1536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D7E0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UNSW MIT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D7E0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Artificial Intelligence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D7E0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 届 · AI 产品经理</a:t>
            </a:r>
            <a:endParaRPr lang="en-US" sz="1230" dirty="0"/>
          </a:p>
        </p:txBody>
      </p:sp>
      <p:sp>
        <p:nvSpPr>
          <p:cNvPr id="28" name="Text 26"/>
          <p:cNvSpPr/>
          <p:nvPr/>
        </p:nvSpPr>
        <p:spPr>
          <a:xfrm>
            <a:off x="9747504" y="38221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9EB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PORTFOLIO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3504" y="4773168"/>
            <a:ext cx="11009376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8680" y="5056632"/>
            <a:ext cx="45720" cy="219456"/>
          </a:xfrm>
          <a:prstGeom prst="rect">
            <a:avLst/>
          </a:prstGeom>
          <a:solidFill>
            <a:srgbClr val="215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6696" y="501091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项目链接</a:t>
            </a:r>
            <a:endParaRPr lang="en-US" sz="1200" dirty="0"/>
          </a:p>
        </p:txBody>
      </p:sp>
      <p:sp>
        <p:nvSpPr>
          <p:cNvPr id="32" name="Shape 30">
            <a:hlinkClick r:id="rId1" tooltip=""/>
          </p:cNvPr>
          <p:cNvSpPr/>
          <p:nvPr/>
        </p:nvSpPr>
        <p:spPr>
          <a:xfrm>
            <a:off x="2770632" y="4937760"/>
            <a:ext cx="3310128" cy="713232"/>
          </a:xfrm>
          <a:prstGeom prst="roundRect">
            <a:avLst>
              <a:gd name="adj" fmla="val 10256"/>
            </a:avLst>
          </a:prstGeom>
          <a:solidFill>
            <a:srgbClr val="215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>
            <a:hlinkClick r:id="rId2" tooltip=""/>
          </p:cNvPr>
          <p:cNvSpPr/>
          <p:nvPr/>
        </p:nvSpPr>
        <p:spPr>
          <a:xfrm>
            <a:off x="3017520" y="5129784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u="sng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ReleaseGuard AI · 在线 Demo  ↗</a:t>
            </a:r>
            <a:endParaRPr lang="en-US" sz="1350" dirty="0"/>
          </a:p>
        </p:txBody>
      </p:sp>
      <p:sp>
        <p:nvSpPr>
          <p:cNvPr id="34" name="Shape 32">
            <a:hlinkClick r:id="rId3" tooltip=""/>
          </p:cNvPr>
          <p:cNvSpPr/>
          <p:nvPr/>
        </p:nvSpPr>
        <p:spPr>
          <a:xfrm>
            <a:off x="6327648" y="4937760"/>
            <a:ext cx="331012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7780">
            <a:solidFill>
              <a:srgbClr val="2155F5"/>
            </a:solidFill>
            <a:prstDash val="solid"/>
          </a:ln>
        </p:spPr>
      </p:sp>
      <p:sp>
        <p:nvSpPr>
          <p:cNvPr id="35" name="Text 33">
            <a:hlinkClick r:id="rId4" tooltip=""/>
          </p:cNvPr>
          <p:cNvSpPr/>
          <p:nvPr/>
        </p:nvSpPr>
        <p:spPr>
          <a:xfrm>
            <a:off x="6565392" y="51297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u="sng" dirty="0">
                <a:solidFill>
                  <a:srgbClr val="215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ReleaseGuard AI · GitHub  ↗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2779776" y="5769864"/>
            <a:ext cx="6839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C8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 Demo 使用确定性 Replay 数据，不触发真实外部写操作。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C87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UNSW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李超｜AI 产品经理项目作品集</dc:title>
  <dc:subject>2027届秋招 AI 产品经理项目作品集</dc:subject>
  <dc:creator>李超</dc:creator>
  <cp:lastModifiedBy>李超</cp:lastModifiedBy>
  <cp:revision>1</cp:revision>
  <dcterms:created xsi:type="dcterms:W3CDTF">2026-08-09T11:35:58Z</dcterms:created>
  <dcterms:modified xsi:type="dcterms:W3CDTF">2026-08-09T11:35:58Z</dcterms:modified>
</cp:coreProperties>
</file>