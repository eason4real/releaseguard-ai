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STER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155F5"/>
          </a:solidFill>
          <a:ln w="12700">
            <a:solidFill>
              <a:srgbClr val="2155F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6519672"/>
            <a:ext cx="3474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C87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李超 · ReleaseGuard AI 作品集 v1.0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0698480" y="6519672"/>
            <a:ext cx="9601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C87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2027 校招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03152" y="6501384"/>
            <a:ext cx="420624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7C879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03152" y="6501384"/>
            <a:ext cx="420624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7C879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hyperlink" Target="https://releaseguard.easonchao.com" TargetMode="External"/><Relationship Id="rId2" Type="http://schemas.openxmlformats.org/officeDocument/2006/relationships/hyperlink" Target="https://github.com/Eason4real/releaseguard-ai" TargetMode="External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096512" cy="6858000"/>
          </a:xfrm>
          <a:prstGeom prst="rect">
            <a:avLst/>
          </a:prstGeom>
          <a:solidFill>
            <a:srgbClr val="102A5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530352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9EB5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RELEASEGUARD AI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1078992"/>
            <a:ext cx="29718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发布异常调查</a:t>
            </a:r>
            <a:endParaRPr lang="en-US" sz="3100" dirty="0"/>
          </a:p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Agent</a:t>
            </a:r>
            <a:endParaRPr lang="en-US" sz="3100" dirty="0"/>
          </a:p>
        </p:txBody>
      </p:sp>
      <p:sp>
        <p:nvSpPr>
          <p:cNvPr id="5" name="Text 3"/>
          <p:cNvSpPr/>
          <p:nvPr/>
        </p:nvSpPr>
        <p:spPr>
          <a:xfrm>
            <a:off x="548640" y="2395728"/>
            <a:ext cx="2971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D7E0F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面向产品经理、产品负责人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D7E0F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与发布负责人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48640" y="3401568"/>
            <a:ext cx="7315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9EB5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场景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548640" y="3712464"/>
            <a:ext cx="29077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版本上线后，核心业务指标出现异常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548640" y="4663440"/>
            <a:ext cx="8229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9EB5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我的工作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548640" y="4974336"/>
            <a:ext cx="2880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产品定义 · Agent 产品设计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评测体系 · 迭代决策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48640" y="5879592"/>
            <a:ext cx="2423160" cy="274320"/>
          </a:xfrm>
          <a:prstGeom prst="roundRect">
            <a:avLst>
              <a:gd name="adj" fmla="val 50000"/>
            </a:avLst>
          </a:prstGeom>
          <a:solidFill>
            <a:srgbClr val="24477D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94360" y="5897880"/>
            <a:ext cx="2331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作品集 v1.0 · 非生产数据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4617720" y="658368"/>
            <a:ext cx="67208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02A5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帮助团队判断：</a:t>
            </a:r>
            <a:endParaRPr lang="en-US" sz="2600" dirty="0"/>
          </a:p>
          <a:p>
            <a:pPr indent="0" marL="0">
              <a:buNone/>
            </a:pPr>
            <a:r>
              <a:rPr lang="en-US" sz="2600" b="1" dirty="0">
                <a:solidFill>
                  <a:srgbClr val="102A5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究竟是不是这次发布导致的？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4617720" y="1755648"/>
            <a:ext cx="6629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56627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系统维护竞争假设，通过受控工具取证与证据约束形成诊断；证据不足时给出有界结论，外部动作始终需要人工审批。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4617720" y="2688336"/>
            <a:ext cx="6711696" cy="2926080"/>
          </a:xfrm>
          <a:prstGeom prst="roundRect">
            <a:avLst>
              <a:gd name="adj" fmla="val 1875"/>
            </a:avLst>
          </a:prstGeom>
          <a:solidFill>
            <a:srgbClr val="FFFFFF"/>
          </a:solidFill>
          <a:ln w="12700">
            <a:solidFill>
              <a:srgbClr val="C9D7FF"/>
            </a:solidFill>
            <a:prstDash val="solid"/>
          </a:ln>
          <a:effectLst>
            <a:outerShdw sx="100000" sy="100000" kx="0" ky="0" algn="bl" rotWithShape="0" blurRad="12700" dist="50800" dir="2700000">
              <a:srgbClr val="9AA8BF">
                <a:alpha val="8000"/>
              </a:srgbClr>
            </a:outerShdw>
          </a:effectLst>
        </p:spPr>
      </p:sp>
      <p:pic>
        <p:nvPicPr>
          <p:cNvPr id="15" name="Image 0" descr="C:\Users\eason\.codex\visualizations\2026\08\09\019fe640-9e81-78f3-82f3-cd996fc8cfac\releaseguard-ho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28032" y="2980591"/>
            <a:ext cx="4160520" cy="2341570"/>
          </a:xfrm>
          <a:prstGeom prst="rect">
            <a:avLst/>
          </a:prstGeom>
        </p:spPr>
      </p:pic>
      <p:sp>
        <p:nvSpPr>
          <p:cNvPr id="16" name="Shape 13"/>
          <p:cNvSpPr/>
          <p:nvPr/>
        </p:nvSpPr>
        <p:spPr>
          <a:xfrm>
            <a:off x="9217152" y="2898648"/>
            <a:ext cx="36576" cy="2505456"/>
          </a:xfrm>
          <a:prstGeom prst="rect">
            <a:avLst/>
          </a:prstGeom>
          <a:solidFill>
            <a:srgbClr val="DCE3E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9528048" y="2980944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2155F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调查闭环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9528048" y="3364992"/>
            <a:ext cx="1444752" cy="17556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02A5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风险信号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102A5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调查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102A5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证据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102A5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诊断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102A5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审批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102A5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验证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594360" y="6236208"/>
            <a:ext cx="1092708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50" dirty="0">
                <a:solidFill>
                  <a:srgbClr val="7C87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公开演示使用确定性回放数据，不触发真实外部写操作。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03152" y="6501384"/>
            <a:ext cx="420624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7C879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83464"/>
            <a:ext cx="3931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155F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  用户问题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66928" y="603504"/>
            <a:ext cx="10972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02A5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发布后的第一判断，常常缺少完整证据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66928" y="1124712"/>
            <a:ext cx="10881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56627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指标变化与发布时间接近，只能说明相关；可靠归因需要跨信息源验证。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21792" y="1755648"/>
            <a:ext cx="1883664" cy="82296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CE3E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1901952"/>
            <a:ext cx="16276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02A5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新版本上线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49808" y="2212848"/>
            <a:ext cx="16276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7C87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发布记录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2523744" y="2167128"/>
            <a:ext cx="310896" cy="0"/>
          </a:xfrm>
          <a:prstGeom prst="line">
            <a:avLst/>
          </a:prstGeom>
          <a:noFill/>
          <a:ln w="15240">
            <a:solidFill>
              <a:srgbClr val="96A5BA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2907792" y="1755648"/>
            <a:ext cx="1883664" cy="82296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CE3E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35808" y="1901952"/>
            <a:ext cx="16276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02A5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核心指标下降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035808" y="2212848"/>
            <a:ext cx="16276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7C87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业务指标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809744" y="2167128"/>
            <a:ext cx="310896" cy="0"/>
          </a:xfrm>
          <a:prstGeom prst="line">
            <a:avLst/>
          </a:prstGeom>
          <a:noFill/>
          <a:ln w="15240">
            <a:solidFill>
              <a:srgbClr val="96A5BA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5193792" y="1755648"/>
            <a:ext cx="1883664" cy="82296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CE3E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321808" y="1901952"/>
            <a:ext cx="16276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02A5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团队开始排查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321808" y="2212848"/>
            <a:ext cx="16276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7C87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产品、研发与数据团队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7095744" y="2167128"/>
            <a:ext cx="310896" cy="0"/>
          </a:xfrm>
          <a:prstGeom prst="line">
            <a:avLst/>
          </a:prstGeom>
          <a:noFill/>
          <a:ln w="15240">
            <a:solidFill>
              <a:srgbClr val="96A5BA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7479792" y="1755648"/>
            <a:ext cx="1883664" cy="82296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CE3E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607808" y="1901952"/>
            <a:ext cx="16276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02A5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信息分散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7607808" y="2212848"/>
            <a:ext cx="16276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7C87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分群、反馈与历史事故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9381744" y="2167128"/>
            <a:ext cx="310896" cy="0"/>
          </a:xfrm>
          <a:prstGeom prst="line">
            <a:avLst/>
          </a:prstGeom>
          <a:noFill/>
          <a:ln w="15240">
            <a:solidFill>
              <a:srgbClr val="96A5BA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9765792" y="1755648"/>
            <a:ext cx="1883664" cy="822960"/>
          </a:xfrm>
          <a:prstGeom prst="roundRect">
            <a:avLst>
              <a:gd name="adj" fmla="val 6667"/>
            </a:avLst>
          </a:prstGeom>
          <a:solidFill>
            <a:srgbClr val="FFF0F2"/>
          </a:solidFill>
          <a:ln w="12700">
            <a:solidFill>
              <a:srgbClr val="D84A5D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893808" y="1901952"/>
            <a:ext cx="16276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84A5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过早归因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9893808" y="2212848"/>
            <a:ext cx="16276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7C87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“一定是版本导致”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621792" y="3063240"/>
            <a:ext cx="3456432" cy="2395728"/>
          </a:xfrm>
          <a:prstGeom prst="roundRect">
            <a:avLst>
              <a:gd name="adj" fmla="val 2290"/>
            </a:avLst>
          </a:prstGeom>
          <a:solidFill>
            <a:srgbClr val="FFFFFF"/>
          </a:solidFill>
          <a:ln w="12700">
            <a:solidFill>
              <a:srgbClr val="DCE3E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22960" y="3310128"/>
            <a:ext cx="4389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2155F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1335024" y="3255264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02A5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信息分散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822960" y="3858768"/>
            <a:ext cx="3017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56627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调查者需要在发布记录、指标分群、用户反馈和历史事故之间反复切换。</a:t>
            </a:r>
            <a:endParaRPr lang="en-US" sz="1350" dirty="0"/>
          </a:p>
        </p:txBody>
      </p:sp>
      <p:sp>
        <p:nvSpPr>
          <p:cNvPr id="28" name="Shape 26"/>
          <p:cNvSpPr/>
          <p:nvPr/>
        </p:nvSpPr>
        <p:spPr>
          <a:xfrm>
            <a:off x="4407408" y="3063240"/>
            <a:ext cx="3456432" cy="2395728"/>
          </a:xfrm>
          <a:prstGeom prst="roundRect">
            <a:avLst>
              <a:gd name="adj" fmla="val 2290"/>
            </a:avLst>
          </a:prstGeom>
          <a:solidFill>
            <a:srgbClr val="F1F5FF"/>
          </a:solidFill>
          <a:ln w="12700">
            <a:solidFill>
              <a:srgbClr val="2155F5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08576" y="3310128"/>
            <a:ext cx="4389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2155F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5120640" y="3255264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02A5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相关被误判为因果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4608576" y="3858768"/>
            <a:ext cx="3017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56627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版本与异常同时发生时，团队容易忽略流量结构、外部依赖或测量问题。</a:t>
            </a:r>
            <a:endParaRPr lang="en-US" sz="1350" dirty="0"/>
          </a:p>
        </p:txBody>
      </p:sp>
      <p:sp>
        <p:nvSpPr>
          <p:cNvPr id="32" name="Shape 30"/>
          <p:cNvSpPr/>
          <p:nvPr/>
        </p:nvSpPr>
        <p:spPr>
          <a:xfrm>
            <a:off x="8193024" y="3063240"/>
            <a:ext cx="3456432" cy="2395728"/>
          </a:xfrm>
          <a:prstGeom prst="roundRect">
            <a:avLst>
              <a:gd name="adj" fmla="val 2290"/>
            </a:avLst>
          </a:prstGeom>
          <a:solidFill>
            <a:srgbClr val="FFFFFF"/>
          </a:solidFill>
          <a:ln w="12700">
            <a:solidFill>
              <a:srgbClr val="DCE3E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394192" y="3310128"/>
            <a:ext cx="4389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2155F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8906256" y="3255264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02A5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解释缺少证据约束</a:t>
            </a:r>
            <a:endParaRPr lang="en-US" sz="1800" dirty="0"/>
          </a:p>
        </p:txBody>
      </p:sp>
      <p:sp>
        <p:nvSpPr>
          <p:cNvPr id="35" name="Text 33"/>
          <p:cNvSpPr/>
          <p:nvPr/>
        </p:nvSpPr>
        <p:spPr>
          <a:xfrm>
            <a:off x="8394192" y="3858768"/>
            <a:ext cx="3017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56627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普通 LLM 可以快速生成合理叙述，却不保证每个判断都来自当前事故证据。</a:t>
            </a:r>
            <a:endParaRPr lang="en-US" sz="1350" dirty="0"/>
          </a:p>
        </p:txBody>
      </p:sp>
      <p:sp>
        <p:nvSpPr>
          <p:cNvPr id="36" name="Text 34"/>
          <p:cNvSpPr/>
          <p:nvPr/>
        </p:nvSpPr>
        <p:spPr>
          <a:xfrm>
            <a:off x="1280160" y="5715000"/>
            <a:ext cx="9646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155F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产品机会：把一次开放式排查，转化为有状态、有证据、有停止边界的调查流程。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03152" y="6501384"/>
            <a:ext cx="420624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7C879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83464"/>
            <a:ext cx="3931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155F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  产品流程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66928" y="603504"/>
            <a:ext cx="10972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02A5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从风险信号到恢复验证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66928" y="1124712"/>
            <a:ext cx="10881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56627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每一步都向下一步提供结构化状态，模型只负责调查决策，运行时负责权限与边界。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58368" y="1783080"/>
            <a:ext cx="1874520" cy="1078992"/>
          </a:xfrm>
          <a:prstGeom prst="roundRect">
            <a:avLst>
              <a:gd name="adj" fmla="val 5085"/>
            </a:avLst>
          </a:prstGeom>
          <a:solidFill>
            <a:srgbClr val="FFFFFF"/>
          </a:solidFill>
          <a:ln w="12700">
            <a:solidFill>
              <a:srgbClr val="DCE3E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95528" y="1901952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b="1" dirty="0">
                <a:solidFill>
                  <a:srgbClr val="2155F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795528" y="2148840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02A5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风险信号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95528" y="2514600"/>
            <a:ext cx="1600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7C87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确定性规则识别异常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2560320" y="2322576"/>
            <a:ext cx="274320" cy="0"/>
          </a:xfrm>
          <a:prstGeom prst="line">
            <a:avLst/>
          </a:prstGeom>
          <a:noFill/>
          <a:ln w="15240">
            <a:solidFill>
              <a:srgbClr val="96A5BA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2916936" y="1783080"/>
            <a:ext cx="1874520" cy="1078992"/>
          </a:xfrm>
          <a:prstGeom prst="roundRect">
            <a:avLst>
              <a:gd name="adj" fmla="val 5085"/>
            </a:avLst>
          </a:prstGeom>
          <a:solidFill>
            <a:srgbClr val="FFFFFF"/>
          </a:solidFill>
          <a:ln w="12700">
            <a:solidFill>
              <a:srgbClr val="DCE3E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054096" y="1901952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b="1" dirty="0">
                <a:solidFill>
                  <a:srgbClr val="2155F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3054096" y="2148840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02A5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调查任务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054096" y="2514600"/>
            <a:ext cx="1600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7C87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创建可恢复调查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4818888" y="2322576"/>
            <a:ext cx="274320" cy="0"/>
          </a:xfrm>
          <a:prstGeom prst="line">
            <a:avLst/>
          </a:prstGeom>
          <a:noFill/>
          <a:ln w="15240">
            <a:solidFill>
              <a:srgbClr val="96A5BA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5175504" y="1783080"/>
            <a:ext cx="1874520" cy="1078992"/>
          </a:xfrm>
          <a:prstGeom prst="roundRect">
            <a:avLst>
              <a:gd name="adj" fmla="val 5085"/>
            </a:avLst>
          </a:prstGeom>
          <a:solidFill>
            <a:srgbClr val="FFFFFF"/>
          </a:solidFill>
          <a:ln w="12700">
            <a:solidFill>
              <a:srgbClr val="DCE3E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312664" y="1901952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b="1" dirty="0">
                <a:solidFill>
                  <a:srgbClr val="2155F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5312664" y="2148840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02A5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竞争假设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5312664" y="2514600"/>
            <a:ext cx="1600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7C87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保留多种解释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7077456" y="2322576"/>
            <a:ext cx="274320" cy="0"/>
          </a:xfrm>
          <a:prstGeom prst="line">
            <a:avLst/>
          </a:prstGeom>
          <a:noFill/>
          <a:ln w="15240">
            <a:solidFill>
              <a:srgbClr val="96A5BA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7434072" y="1783080"/>
            <a:ext cx="1874520" cy="1078992"/>
          </a:xfrm>
          <a:prstGeom prst="roundRect">
            <a:avLst>
              <a:gd name="adj" fmla="val 5085"/>
            </a:avLst>
          </a:prstGeom>
          <a:solidFill>
            <a:srgbClr val="FFFFFF"/>
          </a:solidFill>
          <a:ln w="12700">
            <a:solidFill>
              <a:srgbClr val="DCE3E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571232" y="1901952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b="1" dirty="0">
                <a:solidFill>
                  <a:srgbClr val="2155F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7571232" y="2148840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02A5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调查工具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7571232" y="2514600"/>
            <a:ext cx="1600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7C87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查询当前事故事实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9336024" y="2322576"/>
            <a:ext cx="274320" cy="0"/>
          </a:xfrm>
          <a:prstGeom prst="line">
            <a:avLst/>
          </a:prstGeom>
          <a:noFill/>
          <a:ln w="15240">
            <a:solidFill>
              <a:srgbClr val="96A5BA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9692640" y="1783080"/>
            <a:ext cx="1874520" cy="1078992"/>
          </a:xfrm>
          <a:prstGeom prst="roundRect">
            <a:avLst>
              <a:gd name="adj" fmla="val 5085"/>
            </a:avLst>
          </a:prstGeom>
          <a:solidFill>
            <a:srgbClr val="F1F5FF"/>
          </a:solidFill>
          <a:ln w="12700">
            <a:solidFill>
              <a:srgbClr val="2155F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829800" y="1901952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b="1" dirty="0">
                <a:solidFill>
                  <a:srgbClr val="2155F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9829800" y="2148840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02A5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证据包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9829800" y="2514600"/>
            <a:ext cx="1600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7C87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整理来源与关系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9692640" y="3886200"/>
            <a:ext cx="1874520" cy="1078992"/>
          </a:xfrm>
          <a:prstGeom prst="roundRect">
            <a:avLst>
              <a:gd name="adj" fmla="val 5085"/>
            </a:avLst>
          </a:prstGeom>
          <a:solidFill>
            <a:srgbClr val="F1F5FF"/>
          </a:solidFill>
          <a:ln w="12700">
            <a:solidFill>
              <a:srgbClr val="2155F5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829800" y="4005072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b="1" dirty="0">
                <a:solidFill>
                  <a:srgbClr val="2155F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06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9829800" y="4251960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02A5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就绪判断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9829800" y="4617720"/>
            <a:ext cx="1600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7C87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判断证据是否足够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9610344" y="4425696"/>
            <a:ext cx="-246888" cy="0"/>
          </a:xfrm>
          <a:prstGeom prst="line">
            <a:avLst/>
          </a:prstGeom>
          <a:noFill/>
          <a:ln w="15240">
            <a:solidFill>
              <a:srgbClr val="96A5BA"/>
            </a:solidFill>
            <a:prstDash val="solid"/>
            <a:tailEnd type="triangle"/>
          </a:ln>
        </p:spPr>
      </p:sp>
      <p:sp>
        <p:nvSpPr>
          <p:cNvPr id="34" name="Shape 32"/>
          <p:cNvSpPr/>
          <p:nvPr/>
        </p:nvSpPr>
        <p:spPr>
          <a:xfrm>
            <a:off x="7434072" y="3886200"/>
            <a:ext cx="1874520" cy="1078992"/>
          </a:xfrm>
          <a:prstGeom prst="roundRect">
            <a:avLst>
              <a:gd name="adj" fmla="val 5085"/>
            </a:avLst>
          </a:prstGeom>
          <a:solidFill>
            <a:srgbClr val="FFFFFF"/>
          </a:solidFill>
          <a:ln w="12700">
            <a:solidFill>
              <a:srgbClr val="DCE3E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571232" y="4005072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b="1" dirty="0">
                <a:solidFill>
                  <a:srgbClr val="2155F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07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7571232" y="4251960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02A5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诊断或拒答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7571232" y="4617720"/>
            <a:ext cx="1600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7C87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输出有据结论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7351776" y="4425696"/>
            <a:ext cx="-246888" cy="0"/>
          </a:xfrm>
          <a:prstGeom prst="line">
            <a:avLst/>
          </a:prstGeom>
          <a:noFill/>
          <a:ln w="15240">
            <a:solidFill>
              <a:srgbClr val="96A5BA"/>
            </a:solidFill>
            <a:prstDash val="solid"/>
            <a:tailEnd type="triangle"/>
          </a:ln>
        </p:spPr>
      </p:sp>
      <p:sp>
        <p:nvSpPr>
          <p:cNvPr id="39" name="Shape 37"/>
          <p:cNvSpPr/>
          <p:nvPr/>
        </p:nvSpPr>
        <p:spPr>
          <a:xfrm>
            <a:off x="5175504" y="3886200"/>
            <a:ext cx="1874520" cy="1078992"/>
          </a:xfrm>
          <a:prstGeom prst="roundRect">
            <a:avLst>
              <a:gd name="adj" fmla="val 5085"/>
            </a:avLst>
          </a:prstGeom>
          <a:solidFill>
            <a:srgbClr val="F1F5FF"/>
          </a:solidFill>
          <a:ln w="12700">
            <a:solidFill>
              <a:srgbClr val="2155F5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12664" y="4005072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b="1" dirty="0">
                <a:solidFill>
                  <a:srgbClr val="2155F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08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5312664" y="4251960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02A5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人工审批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5312664" y="4617720"/>
            <a:ext cx="1600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7C87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负责人确认动作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5093208" y="4425696"/>
            <a:ext cx="-246888" cy="0"/>
          </a:xfrm>
          <a:prstGeom prst="line">
            <a:avLst/>
          </a:prstGeom>
          <a:noFill/>
          <a:ln w="15240">
            <a:solidFill>
              <a:srgbClr val="96A5BA"/>
            </a:solidFill>
            <a:prstDash val="solid"/>
            <a:tailEnd type="triangle"/>
          </a:ln>
        </p:spPr>
      </p:sp>
      <p:sp>
        <p:nvSpPr>
          <p:cNvPr id="44" name="Shape 42"/>
          <p:cNvSpPr/>
          <p:nvPr/>
        </p:nvSpPr>
        <p:spPr>
          <a:xfrm>
            <a:off x="2916936" y="3886200"/>
            <a:ext cx="1874520" cy="1078992"/>
          </a:xfrm>
          <a:prstGeom prst="roundRect">
            <a:avLst>
              <a:gd name="adj" fmla="val 5085"/>
            </a:avLst>
          </a:prstGeom>
          <a:solidFill>
            <a:srgbClr val="FFFFFF"/>
          </a:solidFill>
          <a:ln w="12700">
            <a:solidFill>
              <a:srgbClr val="DCE3EF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054096" y="4005072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b="1" dirty="0">
                <a:solidFill>
                  <a:srgbClr val="2155F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09</a:t>
            </a:r>
            <a:endParaRPr lang="en-US" sz="950" dirty="0"/>
          </a:p>
        </p:txBody>
      </p:sp>
      <p:sp>
        <p:nvSpPr>
          <p:cNvPr id="46" name="Text 44"/>
          <p:cNvSpPr/>
          <p:nvPr/>
        </p:nvSpPr>
        <p:spPr>
          <a:xfrm>
            <a:off x="3054096" y="4251960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02A5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执行动作</a:t>
            </a:r>
            <a:endParaRPr lang="en-US" sz="1400" dirty="0"/>
          </a:p>
        </p:txBody>
      </p:sp>
      <p:sp>
        <p:nvSpPr>
          <p:cNvPr id="47" name="Text 45"/>
          <p:cNvSpPr/>
          <p:nvPr/>
        </p:nvSpPr>
        <p:spPr>
          <a:xfrm>
            <a:off x="3054096" y="4617720"/>
            <a:ext cx="1600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7C87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受控外部写操作</a:t>
            </a:r>
            <a:endParaRPr lang="en-US" sz="950" dirty="0"/>
          </a:p>
        </p:txBody>
      </p:sp>
      <p:sp>
        <p:nvSpPr>
          <p:cNvPr id="48" name="Shape 46"/>
          <p:cNvSpPr/>
          <p:nvPr/>
        </p:nvSpPr>
        <p:spPr>
          <a:xfrm>
            <a:off x="2834640" y="4425696"/>
            <a:ext cx="-246888" cy="0"/>
          </a:xfrm>
          <a:prstGeom prst="line">
            <a:avLst/>
          </a:prstGeom>
          <a:noFill/>
          <a:ln w="15240">
            <a:solidFill>
              <a:srgbClr val="96A5BA"/>
            </a:solidFill>
            <a:prstDash val="solid"/>
            <a:tailEnd type="triangle"/>
          </a:ln>
        </p:spPr>
      </p:sp>
      <p:sp>
        <p:nvSpPr>
          <p:cNvPr id="49" name="Shape 47"/>
          <p:cNvSpPr/>
          <p:nvPr/>
        </p:nvSpPr>
        <p:spPr>
          <a:xfrm>
            <a:off x="658368" y="3886200"/>
            <a:ext cx="1874520" cy="1078992"/>
          </a:xfrm>
          <a:prstGeom prst="roundRect">
            <a:avLst>
              <a:gd name="adj" fmla="val 5085"/>
            </a:avLst>
          </a:prstGeom>
          <a:solidFill>
            <a:srgbClr val="FFFFFF"/>
          </a:solidFill>
          <a:ln w="12700">
            <a:solidFill>
              <a:srgbClr val="DCE3EF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95528" y="4005072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b="1" dirty="0">
                <a:solidFill>
                  <a:srgbClr val="2155F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950" dirty="0"/>
          </a:p>
        </p:txBody>
      </p:sp>
      <p:sp>
        <p:nvSpPr>
          <p:cNvPr id="51" name="Text 49"/>
          <p:cNvSpPr/>
          <p:nvPr/>
        </p:nvSpPr>
        <p:spPr>
          <a:xfrm>
            <a:off x="795528" y="4251960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02A5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效果验证</a:t>
            </a:r>
            <a:endParaRPr lang="en-US" sz="1400" dirty="0"/>
          </a:p>
        </p:txBody>
      </p:sp>
      <p:sp>
        <p:nvSpPr>
          <p:cNvPr id="52" name="Text 50"/>
          <p:cNvSpPr/>
          <p:nvPr/>
        </p:nvSpPr>
        <p:spPr>
          <a:xfrm>
            <a:off x="795528" y="4617720"/>
            <a:ext cx="1600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7C87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检查业务是否恢复</a:t>
            </a:r>
            <a:endParaRPr lang="en-US" sz="950" dirty="0"/>
          </a:p>
        </p:txBody>
      </p:sp>
      <p:sp>
        <p:nvSpPr>
          <p:cNvPr id="53" name="Shape 51"/>
          <p:cNvSpPr/>
          <p:nvPr/>
        </p:nvSpPr>
        <p:spPr>
          <a:xfrm>
            <a:off x="9317736" y="2907792"/>
            <a:ext cx="0" cy="841248"/>
          </a:xfrm>
          <a:prstGeom prst="line">
            <a:avLst/>
          </a:prstGeom>
          <a:noFill/>
          <a:ln w="19050">
            <a:solidFill>
              <a:srgbClr val="2155F5"/>
            </a:solidFill>
            <a:prstDash val="solid"/>
            <a:tailEnd type="triangle"/>
          </a:ln>
        </p:spPr>
      </p:sp>
      <p:sp>
        <p:nvSpPr>
          <p:cNvPr id="54" name="Shape 52"/>
          <p:cNvSpPr/>
          <p:nvPr/>
        </p:nvSpPr>
        <p:spPr>
          <a:xfrm>
            <a:off x="658368" y="5285232"/>
            <a:ext cx="10908792" cy="594360"/>
          </a:xfrm>
          <a:prstGeom prst="roundRect">
            <a:avLst>
              <a:gd name="adj" fmla="val 9231"/>
            </a:avLst>
          </a:prstGeom>
          <a:solidFill>
            <a:srgbClr val="102A56"/>
          </a:solidFill>
          <a:ln w="12700">
            <a:solidFill>
              <a:srgbClr val="102A56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960120" y="5431536"/>
            <a:ext cx="103144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用户获得的不只是答案，而是一条可回看、可审批、可验证的调查记录。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03152" y="6501384"/>
            <a:ext cx="420624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7C879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83464"/>
            <a:ext cx="3931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155F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  真实产品界面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66928" y="603504"/>
            <a:ext cx="10972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02A5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一次真实调查，在产品里是怎么发生的？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66928" y="1124712"/>
            <a:ext cx="10881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56627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真实 Demo 将调查进度、竞争假设、证据状态和人工审批放在同一条可追溯流程中。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66928" y="1673352"/>
            <a:ext cx="5486400" cy="3401568"/>
          </a:xfrm>
          <a:prstGeom prst="roundRect">
            <a:avLst>
              <a:gd name="adj" fmla="val 1613"/>
            </a:avLst>
          </a:prstGeom>
          <a:solidFill>
            <a:srgbClr val="FFFFFF"/>
          </a:solidFill>
          <a:ln w="12700">
            <a:solidFill>
              <a:srgbClr val="DCE3E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144768" y="1673352"/>
            <a:ext cx="5486400" cy="3401568"/>
          </a:xfrm>
          <a:prstGeom prst="roundRect">
            <a:avLst>
              <a:gd name="adj" fmla="val 1613"/>
            </a:avLst>
          </a:prstGeom>
          <a:solidFill>
            <a:srgbClr val="FFFFFF"/>
          </a:solidFill>
          <a:ln w="12700">
            <a:solidFill>
              <a:srgbClr val="DCE3E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04672" y="1847088"/>
            <a:ext cx="1078992" cy="274320"/>
          </a:xfrm>
          <a:prstGeom prst="roundRect">
            <a:avLst>
              <a:gd name="adj" fmla="val 50000"/>
            </a:avLst>
          </a:prstGeom>
          <a:solidFill>
            <a:srgbClr val="EAF7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50392" y="1865376"/>
            <a:ext cx="9875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67A5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调查与取证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6382512" y="1847088"/>
            <a:ext cx="1078992" cy="274320"/>
          </a:xfrm>
          <a:prstGeom prst="roundRect">
            <a:avLst>
              <a:gd name="adj" fmla="val 50000"/>
            </a:avLst>
          </a:prstGeom>
          <a:solidFill>
            <a:srgbClr val="EAF0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28232" y="1865376"/>
            <a:ext cx="9875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155F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审批与验证</a:t>
            </a:r>
            <a:endParaRPr lang="en-US" sz="1050" dirty="0"/>
          </a:p>
        </p:txBody>
      </p:sp>
      <p:pic>
        <p:nvPicPr>
          <p:cNvPr id="11" name="Image 0" descr="C:\Users\eason\.codex\visualizations\2026\08\09\019fe640-9e81-78f3-82f3-cd996fc8cfac\releaseguard-evidence-portfolio-cr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485" y="2212848"/>
            <a:ext cx="4645286" cy="2688336"/>
          </a:xfrm>
          <a:prstGeom prst="rect">
            <a:avLst/>
          </a:prstGeom>
        </p:spPr>
      </p:pic>
      <p:pic>
        <p:nvPicPr>
          <p:cNvPr id="12" name="Image 1" descr="C:\Users\eason\.codex\visualizations\2026\08\09\019fe640-9e81-78f3-82f3-cd996fc8cfac\releaseguard-approval-portfolio-cro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5325" y="2212848"/>
            <a:ext cx="4645286" cy="2688336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658368" y="5394960"/>
            <a:ext cx="329184" cy="329184"/>
          </a:xfrm>
          <a:prstGeom prst="ellipse">
            <a:avLst/>
          </a:prstGeom>
          <a:solidFill>
            <a:srgbClr val="2155F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658368" y="5413248"/>
            <a:ext cx="32918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050" dirty="0"/>
          </a:p>
        </p:txBody>
      </p:sp>
      <p:sp>
        <p:nvSpPr>
          <p:cNvPr id="15" name="Text 11"/>
          <p:cNvSpPr/>
          <p:nvPr/>
        </p:nvSpPr>
        <p:spPr>
          <a:xfrm>
            <a:off x="1097280" y="5367528"/>
            <a:ext cx="16642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102A5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创建竞争假设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2944368" y="5394960"/>
            <a:ext cx="329184" cy="329184"/>
          </a:xfrm>
          <a:prstGeom prst="ellipse">
            <a:avLst/>
          </a:prstGeom>
          <a:solidFill>
            <a:srgbClr val="2155F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2944368" y="5413248"/>
            <a:ext cx="32918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3383280" y="5367528"/>
            <a:ext cx="16642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102A5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调用受控工具取证</a:t>
            </a:r>
            <a:endParaRPr lang="en-US" sz="1050" dirty="0"/>
          </a:p>
        </p:txBody>
      </p:sp>
      <p:sp>
        <p:nvSpPr>
          <p:cNvPr id="19" name="Shape 15"/>
          <p:cNvSpPr/>
          <p:nvPr/>
        </p:nvSpPr>
        <p:spPr>
          <a:xfrm>
            <a:off x="5230368" y="5394960"/>
            <a:ext cx="329184" cy="329184"/>
          </a:xfrm>
          <a:prstGeom prst="ellipse">
            <a:avLst/>
          </a:prstGeom>
          <a:solidFill>
            <a:srgbClr val="2155F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5230368" y="5413248"/>
            <a:ext cx="32918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050" dirty="0"/>
          </a:p>
        </p:txBody>
      </p:sp>
      <p:sp>
        <p:nvSpPr>
          <p:cNvPr id="21" name="Text 17"/>
          <p:cNvSpPr/>
          <p:nvPr/>
        </p:nvSpPr>
        <p:spPr>
          <a:xfrm>
            <a:off x="5669280" y="5367528"/>
            <a:ext cx="16642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102A5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证据保留来源与关系</a:t>
            </a:r>
            <a:endParaRPr lang="en-US" sz="1050" dirty="0"/>
          </a:p>
        </p:txBody>
      </p:sp>
      <p:sp>
        <p:nvSpPr>
          <p:cNvPr id="22" name="Shape 18"/>
          <p:cNvSpPr/>
          <p:nvPr/>
        </p:nvSpPr>
        <p:spPr>
          <a:xfrm>
            <a:off x="7516368" y="5394960"/>
            <a:ext cx="329184" cy="329184"/>
          </a:xfrm>
          <a:prstGeom prst="ellipse">
            <a:avLst/>
          </a:prstGeom>
          <a:solidFill>
            <a:srgbClr val="2155F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7516368" y="5413248"/>
            <a:ext cx="32918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050" dirty="0"/>
          </a:p>
        </p:txBody>
      </p:sp>
      <p:sp>
        <p:nvSpPr>
          <p:cNvPr id="24" name="Text 20"/>
          <p:cNvSpPr/>
          <p:nvPr/>
        </p:nvSpPr>
        <p:spPr>
          <a:xfrm>
            <a:off x="7955280" y="5367528"/>
            <a:ext cx="16642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102A5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继续调查或有界停止</a:t>
            </a:r>
            <a:endParaRPr lang="en-US" sz="1050" dirty="0"/>
          </a:p>
        </p:txBody>
      </p:sp>
      <p:sp>
        <p:nvSpPr>
          <p:cNvPr id="25" name="Shape 21"/>
          <p:cNvSpPr/>
          <p:nvPr/>
        </p:nvSpPr>
        <p:spPr>
          <a:xfrm>
            <a:off x="9802368" y="5394960"/>
            <a:ext cx="329184" cy="329184"/>
          </a:xfrm>
          <a:prstGeom prst="ellipse">
            <a:avLst/>
          </a:prstGeom>
          <a:solidFill>
            <a:srgbClr val="167A5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9802368" y="5413248"/>
            <a:ext cx="32918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050" dirty="0"/>
          </a:p>
        </p:txBody>
      </p:sp>
      <p:sp>
        <p:nvSpPr>
          <p:cNvPr id="27" name="Text 23"/>
          <p:cNvSpPr/>
          <p:nvPr/>
        </p:nvSpPr>
        <p:spPr>
          <a:xfrm>
            <a:off x="10241280" y="5367528"/>
            <a:ext cx="16642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102A5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诊断后进入审批与验证</a:t>
            </a:r>
            <a:endParaRPr lang="en-US" sz="1050" dirty="0"/>
          </a:p>
        </p:txBody>
      </p:sp>
      <p:sp>
        <p:nvSpPr>
          <p:cNvPr id="28" name="Text 24"/>
          <p:cNvSpPr/>
          <p:nvPr/>
        </p:nvSpPr>
        <p:spPr>
          <a:xfrm>
            <a:off x="594360" y="6236208"/>
            <a:ext cx="1092708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50" dirty="0">
                <a:solidFill>
                  <a:srgbClr val="7C87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来源：ReleaseGuard AI 当前公开 Demo 的真实界面截图；演示使用确定性回放数据。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03152" y="6501384"/>
            <a:ext cx="420624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7C879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83464"/>
            <a:ext cx="3931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155F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  核心设计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66928" y="603504"/>
            <a:ext cx="10972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02A5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竞争假设与区分性调查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66928" y="1124712"/>
            <a:ext cx="10881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56627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Agent 优先寻找能区分多个解释的证据，而不是持续为第一个猜测寻找支持。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21792" y="1737360"/>
            <a:ext cx="1965960" cy="3611880"/>
          </a:xfrm>
          <a:prstGeom prst="roundRect">
            <a:avLst>
              <a:gd name="adj" fmla="val 2791"/>
            </a:avLst>
          </a:prstGeom>
          <a:solidFill>
            <a:srgbClr val="102A56"/>
          </a:solidFill>
          <a:ln w="12700">
            <a:solidFill>
              <a:srgbClr val="102A5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20116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9EB5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观察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68680" y="2514600"/>
            <a:ext cx="1444752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核心指标</a:t>
            </a:r>
            <a:endParaRPr lang="en-US" sz="2400" dirty="0"/>
          </a:p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发布后下降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868680" y="4069080"/>
            <a:ext cx="14447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D7E0F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时间相关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D7E0F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尚未证明因果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2971800" y="1755648"/>
            <a:ext cx="3063240" cy="932688"/>
          </a:xfrm>
          <a:prstGeom prst="roundRect">
            <a:avLst>
              <a:gd name="adj" fmla="val 5882"/>
            </a:avLst>
          </a:prstGeom>
          <a:solidFill>
            <a:srgbClr val="F1F5FF"/>
          </a:solidFill>
          <a:ln w="12700">
            <a:solidFill>
              <a:srgbClr val="2155F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182112" y="2039112"/>
            <a:ext cx="329184" cy="329184"/>
          </a:xfrm>
          <a:prstGeom prst="ellipse">
            <a:avLst/>
          </a:prstGeom>
          <a:solidFill>
            <a:srgbClr val="2155F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182112" y="2057400"/>
            <a:ext cx="32918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3639312" y="1911096"/>
            <a:ext cx="2084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02A5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版本 Bug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639312" y="2267712"/>
            <a:ext cx="2084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6627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新版本用户异常更明显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2971800" y="2971800"/>
            <a:ext cx="3063240" cy="932688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12700">
            <a:solidFill>
              <a:srgbClr val="DCE3E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182112" y="3255264"/>
            <a:ext cx="329184" cy="329184"/>
          </a:xfrm>
          <a:prstGeom prst="ellipse">
            <a:avLst/>
          </a:prstGeom>
          <a:solidFill>
            <a:srgbClr val="102A5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182112" y="3273552"/>
            <a:ext cx="32918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3639312" y="3127248"/>
            <a:ext cx="2084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02A5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流量结构变化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3639312" y="3483864"/>
            <a:ext cx="2084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6627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分群内稳定，流量权重改变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2971800" y="4187952"/>
            <a:ext cx="3063240" cy="932688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12700">
            <a:solidFill>
              <a:srgbClr val="DCE3E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2112" y="4471416"/>
            <a:ext cx="329184" cy="329184"/>
          </a:xfrm>
          <a:prstGeom prst="ellipse">
            <a:avLst/>
          </a:prstGeom>
          <a:solidFill>
            <a:srgbClr val="102A5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182112" y="4489704"/>
            <a:ext cx="32918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3639312" y="4343400"/>
            <a:ext cx="2084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02A5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埋点测量问题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3639312" y="4700016"/>
            <a:ext cx="2084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6627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业务结果稳定，埋点指标下降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473952" y="1737360"/>
            <a:ext cx="5074920" cy="3611880"/>
          </a:xfrm>
          <a:prstGeom prst="roundRect">
            <a:avLst>
              <a:gd name="adj" fmla="val 1519"/>
            </a:avLst>
          </a:prstGeom>
          <a:solidFill>
            <a:srgbClr val="FFFFFF"/>
          </a:solidFill>
          <a:ln w="12700">
            <a:solidFill>
              <a:srgbClr val="C9D7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784848" y="2057400"/>
            <a:ext cx="45720" cy="219456"/>
          </a:xfrm>
          <a:prstGeom prst="rect">
            <a:avLst/>
          </a:prstGeom>
          <a:solidFill>
            <a:srgbClr val="2155F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912864" y="2011680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102A5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下一条最有区分力的证据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812280" y="2578608"/>
            <a:ext cx="274320" cy="274320"/>
          </a:xfrm>
          <a:prstGeom prst="rect">
            <a:avLst/>
          </a:prstGeom>
          <a:solidFill>
            <a:srgbClr val="2155F5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7223760" y="2560320"/>
            <a:ext cx="1078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02A5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版本隔离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8302752" y="2560320"/>
            <a:ext cx="26974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822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同平台比较新旧应用版本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7223760" y="2880360"/>
            <a:ext cx="3822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7C87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区分版本特异异常与整体流量问题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6812280" y="3328416"/>
            <a:ext cx="274320" cy="274320"/>
          </a:xfrm>
          <a:prstGeom prst="rect">
            <a:avLst/>
          </a:prstGeom>
          <a:solidFill>
            <a:srgbClr val="2155F5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7223760" y="3310128"/>
            <a:ext cx="1078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02A5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分群稳定性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8302752" y="3310128"/>
            <a:ext cx="26974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822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比较用户类型和地区内指标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7223760" y="3630168"/>
            <a:ext cx="3822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7C87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识别分群汇总偏差与流量结构变化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6812280" y="4078224"/>
            <a:ext cx="274320" cy="274320"/>
          </a:xfrm>
          <a:prstGeom prst="rect">
            <a:avLst/>
          </a:prstGeom>
          <a:solidFill>
            <a:srgbClr val="2155F5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7223760" y="4059936"/>
            <a:ext cx="1078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02A5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互补业务结果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8302752" y="4059936"/>
            <a:ext cx="26974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822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比较行为完成与埋点指标</a:t>
            </a:r>
            <a:endParaRPr lang="en-US" sz="1150" dirty="0"/>
          </a:p>
        </p:txBody>
      </p:sp>
      <p:sp>
        <p:nvSpPr>
          <p:cNvPr id="38" name="Text 36"/>
          <p:cNvSpPr/>
          <p:nvPr/>
        </p:nvSpPr>
        <p:spPr>
          <a:xfrm>
            <a:off x="7223760" y="4379976"/>
            <a:ext cx="3822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7C87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区分真实故障与测量偏差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1143000" y="5614416"/>
            <a:ext cx="9902952" cy="438912"/>
          </a:xfrm>
          <a:prstGeom prst="roundRect">
            <a:avLst>
              <a:gd name="adj" fmla="val 12500"/>
            </a:avLst>
          </a:prstGeom>
          <a:solidFill>
            <a:srgbClr val="F1F5FF"/>
          </a:solidFill>
          <a:ln w="12700">
            <a:solidFill>
              <a:srgbClr val="EAF0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389888" y="5715000"/>
            <a:ext cx="94000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2155F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产品价值：减少确认偏误，让“为什么继续查这条证据”对用户和评测者都可解释。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03152" y="6501384"/>
            <a:ext cx="420624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7C879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83464"/>
            <a:ext cx="3931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155F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06  证据优先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66928" y="603504"/>
            <a:ext cx="10972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02A5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工具结果 ≠ 证据 ≠ 诊断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66928" y="1124712"/>
            <a:ext cx="10881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56627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ReleaseGuard 把机器返回、证据解释和最终结论分开保存，避免模型叙述覆盖事实。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85800" y="1847088"/>
            <a:ext cx="3246120" cy="2395728"/>
          </a:xfrm>
          <a:prstGeom prst="roundRect">
            <a:avLst>
              <a:gd name="adj" fmla="val 2290"/>
            </a:avLst>
          </a:prstGeom>
          <a:solidFill>
            <a:srgbClr val="FFFFFF"/>
          </a:solidFill>
          <a:ln w="12700">
            <a:solidFill>
              <a:srgbClr val="DCE3E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2148840"/>
            <a:ext cx="2788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02A5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工具结果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960120" y="2770632"/>
            <a:ext cx="2697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822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工具返回的机器事实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60120" y="3538728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7C87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状态 · 原始输出 · 错误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4050792" y="2724912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D84A5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≠</a:t>
            </a:r>
            <a:endParaRPr lang="en-US" sz="2500" dirty="0"/>
          </a:p>
        </p:txBody>
      </p:sp>
      <p:sp>
        <p:nvSpPr>
          <p:cNvPr id="10" name="Shape 8"/>
          <p:cNvSpPr/>
          <p:nvPr/>
        </p:nvSpPr>
        <p:spPr>
          <a:xfrm>
            <a:off x="4526280" y="1847088"/>
            <a:ext cx="3246120" cy="2395728"/>
          </a:xfrm>
          <a:prstGeom prst="roundRect">
            <a:avLst>
              <a:gd name="adj" fmla="val 2290"/>
            </a:avLst>
          </a:prstGeom>
          <a:solidFill>
            <a:srgbClr val="F1F5FF"/>
          </a:solidFill>
          <a:ln w="12700">
            <a:solidFill>
              <a:srgbClr val="2155F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754880" y="2148840"/>
            <a:ext cx="2788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155F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证据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4800600" y="2770632"/>
            <a:ext cx="2697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822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对当前调查有意义的结构化事实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800600" y="3538728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7C87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来源 · 强度 · 可追溯信息 · 关系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7891272" y="2724912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D84A5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≠</a:t>
            </a:r>
            <a:endParaRPr lang="en-US" sz="2500" dirty="0"/>
          </a:p>
        </p:txBody>
      </p:sp>
      <p:sp>
        <p:nvSpPr>
          <p:cNvPr id="15" name="Shape 13"/>
          <p:cNvSpPr/>
          <p:nvPr/>
        </p:nvSpPr>
        <p:spPr>
          <a:xfrm>
            <a:off x="8366760" y="1847088"/>
            <a:ext cx="3246120" cy="2395728"/>
          </a:xfrm>
          <a:prstGeom prst="roundRect">
            <a:avLst>
              <a:gd name="adj" fmla="val 2290"/>
            </a:avLst>
          </a:prstGeom>
          <a:solidFill>
            <a:srgbClr val="FFFFFF"/>
          </a:solidFill>
          <a:ln w="12700">
            <a:solidFill>
              <a:srgbClr val="DCE3E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595360" y="2148840"/>
            <a:ext cx="2788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02A5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诊断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8641080" y="2770632"/>
            <a:ext cx="2697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822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通过服务端校验的用户结论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641080" y="3538728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7C87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根因 · 论断 · 引用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85800" y="4617720"/>
            <a:ext cx="10917936" cy="1033272"/>
          </a:xfrm>
          <a:prstGeom prst="roundRect">
            <a:avLst>
              <a:gd name="adj" fmla="val 5310"/>
            </a:avLst>
          </a:prstGeom>
          <a:solidFill>
            <a:srgbClr val="102A56"/>
          </a:solidFill>
          <a:ln w="12700">
            <a:solidFill>
              <a:srgbClr val="102A5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05840" y="4855464"/>
            <a:ext cx="594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9EB5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LLM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1691640" y="4800600"/>
            <a:ext cx="21762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决定下一步调查方向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4599432" y="4855464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9EB5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服务端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5376672" y="4800600"/>
            <a:ext cx="51023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控制事实、状态、预算、权限和最终校验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987552" y="5852160"/>
            <a:ext cx="10287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56627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Evidence Packet v2 保留事实范围与工具结果关联，综合结论模块不能补造缺失证据。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03152" y="6501384"/>
            <a:ext cx="420624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7C879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83464"/>
            <a:ext cx="3931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155F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07  就绪判断与有界拒答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66928" y="603504"/>
            <a:ext cx="10972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02A5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证据不足时，系统不强行给出根因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66928" y="1124712"/>
            <a:ext cx="10881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56627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就绪判断将“是否继续调查”和“应该交付哪类结果”变成明确的产品状态。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21792" y="1901952"/>
            <a:ext cx="2487168" cy="2286000"/>
          </a:xfrm>
          <a:prstGeom prst="roundRect">
            <a:avLst>
              <a:gd name="adj" fmla="val 2400"/>
            </a:avLst>
          </a:prstGeom>
          <a:solidFill>
            <a:srgbClr val="F1F5FF"/>
          </a:solidFill>
          <a:ln w="12700">
            <a:solidFill>
              <a:srgbClr val="2155F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04672" y="2121408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155F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继续取证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804672" y="2606040"/>
            <a:ext cx="21214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02A5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仍有竞争假设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850392" y="3246120"/>
            <a:ext cx="20299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56627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存在调查预算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6627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继续寻找区分证据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438144" y="1901952"/>
            <a:ext cx="2487168" cy="2286000"/>
          </a:xfrm>
          <a:prstGeom prst="roundRect">
            <a:avLst>
              <a:gd name="adj" fmla="val 2400"/>
            </a:avLst>
          </a:prstGeom>
          <a:solidFill>
            <a:srgbClr val="EAF7F2"/>
          </a:solidFill>
          <a:ln w="12700">
            <a:solidFill>
              <a:srgbClr val="167A5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21024" y="2121408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67A5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有据诊断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621024" y="2606040"/>
            <a:ext cx="21214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02A5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证据足够区分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3666744" y="3246120"/>
            <a:ext cx="20299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56627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主要假设已区分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6627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且结论有证据约束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254496" y="1901952"/>
            <a:ext cx="2487168" cy="2286000"/>
          </a:xfrm>
          <a:prstGeom prst="roundRect">
            <a:avLst>
              <a:gd name="adj" fmla="val 2400"/>
            </a:avLst>
          </a:prstGeom>
          <a:solidFill>
            <a:srgbClr val="FFF7E8"/>
          </a:solidFill>
          <a:ln w="12700">
            <a:solidFill>
              <a:srgbClr val="D48A1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37376" y="2121408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48A1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有界假设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437376" y="2606040"/>
            <a:ext cx="21214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02A5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已有领先方向</a:t>
            </a:r>
            <a:endParaRPr lang="en-US" sz="2100" dirty="0"/>
          </a:p>
        </p:txBody>
      </p:sp>
      <p:sp>
        <p:nvSpPr>
          <p:cNvPr id="16" name="Text 14"/>
          <p:cNvSpPr/>
          <p:nvPr/>
        </p:nvSpPr>
        <p:spPr>
          <a:xfrm>
            <a:off x="6483096" y="3246120"/>
            <a:ext cx="20299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56627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但现有证据仍然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6627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不能唯一归因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9070848" y="1901952"/>
            <a:ext cx="2487168" cy="2286000"/>
          </a:xfrm>
          <a:prstGeom prst="roundRect">
            <a:avLst>
              <a:gd name="adj" fmla="val 2400"/>
            </a:avLst>
          </a:prstGeom>
          <a:solidFill>
            <a:srgbClr val="FFF0F2"/>
          </a:solidFill>
          <a:ln w="12700">
            <a:solidFill>
              <a:srgbClr val="D84A5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253728" y="2121408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84A5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可行动拒答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9253728" y="2606040"/>
            <a:ext cx="21214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02A5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关键问题未解</a:t>
            </a:r>
            <a:endParaRPr lang="en-US" sz="2100" dirty="0"/>
          </a:p>
        </p:txBody>
      </p:sp>
      <p:sp>
        <p:nvSpPr>
          <p:cNvPr id="20" name="Text 18"/>
          <p:cNvSpPr/>
          <p:nvPr/>
        </p:nvSpPr>
        <p:spPr>
          <a:xfrm>
            <a:off x="9299448" y="3246120"/>
            <a:ext cx="20299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56627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预算或工具无法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6627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解决关键不确定性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21792" y="4599432"/>
            <a:ext cx="6812280" cy="1115568"/>
          </a:xfrm>
          <a:prstGeom prst="roundRect">
            <a:avLst>
              <a:gd name="adj" fmla="val 4918"/>
            </a:avLst>
          </a:prstGeom>
          <a:solidFill>
            <a:srgbClr val="102A56"/>
          </a:solidFill>
          <a:ln w="12700">
            <a:solidFill>
              <a:srgbClr val="102A5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41832" y="481888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“不知道”是合法结果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3410712" y="4791456"/>
            <a:ext cx="362102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D7E0F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系统应告诉用户：已经确认什么、还缺什么、下一项最有价值的数据是什么。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7754112" y="4599432"/>
            <a:ext cx="3840480" cy="1115568"/>
          </a:xfrm>
          <a:prstGeom prst="roundRect">
            <a:avLst>
              <a:gd name="adj" fmla="val 4918"/>
            </a:avLst>
          </a:prstGeom>
          <a:solidFill>
            <a:srgbClr val="FFFFFF"/>
          </a:solidFill>
          <a:ln w="12700">
            <a:solidFill>
              <a:srgbClr val="2155F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028432" y="4782312"/>
            <a:ext cx="1051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2155F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运行时保证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8028432" y="5084064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102A5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工具预算 · 最大迭代次数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102A5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重复调用拦截 · 部分证据保留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03152" y="6501384"/>
            <a:ext cx="420624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7C879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83464"/>
            <a:ext cx="3931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155F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08  人工审批闭环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66928" y="603504"/>
            <a:ext cx="10972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02A5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审批是一条服务端安全边界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66928" y="1124712"/>
            <a:ext cx="10881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56627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模型不能直接执行外部写操作；审批绑定具体诊断、具体动作和冻结参数。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30936" y="1874520"/>
            <a:ext cx="1901952" cy="987552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12700">
            <a:solidFill>
              <a:srgbClr val="DCE3E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0664" y="2066544"/>
            <a:ext cx="16824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02A5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诊断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40664" y="2423160"/>
            <a:ext cx="16824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7C87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有据结论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2551176" y="2368296"/>
            <a:ext cx="265176" cy="0"/>
          </a:xfrm>
          <a:prstGeom prst="line">
            <a:avLst/>
          </a:prstGeom>
          <a:noFill/>
          <a:ln w="15240">
            <a:solidFill>
              <a:srgbClr val="96A5BA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2916936" y="1874520"/>
            <a:ext cx="1901952" cy="987552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12700">
            <a:solidFill>
              <a:srgbClr val="DCE3E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26664" y="2066544"/>
            <a:ext cx="16824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02A5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建议动作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026664" y="2423160"/>
            <a:ext cx="16824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7C87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具体动作与参数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837176" y="2368296"/>
            <a:ext cx="265176" cy="0"/>
          </a:xfrm>
          <a:prstGeom prst="line">
            <a:avLst/>
          </a:prstGeom>
          <a:noFill/>
          <a:ln w="15240">
            <a:solidFill>
              <a:srgbClr val="96A5BA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5202936" y="1874520"/>
            <a:ext cx="1901952" cy="987552"/>
          </a:xfrm>
          <a:prstGeom prst="roundRect">
            <a:avLst>
              <a:gd name="adj" fmla="val 5556"/>
            </a:avLst>
          </a:prstGeom>
          <a:solidFill>
            <a:srgbClr val="F1F5FF"/>
          </a:solidFill>
          <a:ln w="12700">
            <a:solidFill>
              <a:srgbClr val="2155F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312664" y="2066544"/>
            <a:ext cx="16824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155F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人工审批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312664" y="2423160"/>
            <a:ext cx="16824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7C87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负责人确认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7123176" y="2368296"/>
            <a:ext cx="265176" cy="0"/>
          </a:xfrm>
          <a:prstGeom prst="line">
            <a:avLst/>
          </a:prstGeom>
          <a:noFill/>
          <a:ln w="15240">
            <a:solidFill>
              <a:srgbClr val="96A5BA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7488936" y="1874520"/>
            <a:ext cx="1901952" cy="987552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12700">
            <a:solidFill>
              <a:srgbClr val="DCE3E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598664" y="2066544"/>
            <a:ext cx="16824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02A5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受控外部动作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7598664" y="2423160"/>
            <a:ext cx="16824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20" dirty="0">
                <a:solidFill>
                  <a:srgbClr val="7C87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当前实现</a:t>
            </a:r>
            <a:endParaRPr lang="en-US" sz="820" dirty="0"/>
          </a:p>
          <a:p>
            <a:pPr algn="ctr" indent="0" marL="0">
              <a:buNone/>
            </a:pPr>
            <a:r>
              <a:rPr lang="en-US" sz="820" dirty="0">
                <a:solidFill>
                  <a:srgbClr val="7C87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CREATE_GITHUB_ISSUE</a:t>
            </a:r>
            <a:endParaRPr lang="en-US" sz="820" dirty="0"/>
          </a:p>
        </p:txBody>
      </p:sp>
      <p:sp>
        <p:nvSpPr>
          <p:cNvPr id="20" name="Shape 18"/>
          <p:cNvSpPr/>
          <p:nvPr/>
        </p:nvSpPr>
        <p:spPr>
          <a:xfrm>
            <a:off x="9409176" y="2368296"/>
            <a:ext cx="265176" cy="0"/>
          </a:xfrm>
          <a:prstGeom prst="line">
            <a:avLst/>
          </a:prstGeom>
          <a:noFill/>
          <a:ln w="15240">
            <a:solidFill>
              <a:srgbClr val="96A5BA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9774936" y="1874520"/>
            <a:ext cx="1901952" cy="987552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12700">
            <a:solidFill>
              <a:srgbClr val="DCE3E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884664" y="2066544"/>
            <a:ext cx="16824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02A5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效果验证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9884664" y="2423160"/>
            <a:ext cx="16824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7C87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检查指标恢复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658368" y="3401568"/>
            <a:ext cx="5230368" cy="822960"/>
          </a:xfrm>
          <a:prstGeom prst="roundRect">
            <a:avLst>
              <a:gd name="adj" fmla="val 6667"/>
            </a:avLst>
          </a:prstGeom>
          <a:solidFill>
            <a:srgbClr val="F1F5FF"/>
          </a:solidFill>
          <a:ln w="12700">
            <a:solidFill>
              <a:srgbClr val="2155F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59536" y="3547872"/>
            <a:ext cx="107899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102A5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权限边界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2075688" y="3520440"/>
            <a:ext cx="35478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6627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只读调查工具可自主执行；外部写操作必须审批。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6254496" y="3401568"/>
            <a:ext cx="5230368" cy="82296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CE3E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455664" y="3547872"/>
            <a:ext cx="107899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102A5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参数冻结</a:t>
            </a:r>
            <a:endParaRPr lang="en-US" sz="1350" dirty="0"/>
          </a:p>
        </p:txBody>
      </p:sp>
      <p:sp>
        <p:nvSpPr>
          <p:cNvPr id="29" name="Text 27"/>
          <p:cNvSpPr/>
          <p:nvPr/>
        </p:nvSpPr>
        <p:spPr>
          <a:xfrm>
            <a:off x="7671816" y="3520440"/>
            <a:ext cx="35478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6627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执行使用审批时保存的不可变快照，不接受临时改写。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658368" y="4480560"/>
            <a:ext cx="5230368" cy="82296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CE3E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59536" y="4626864"/>
            <a:ext cx="107899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102A5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幂等与审计</a:t>
            </a:r>
            <a:endParaRPr lang="en-US" sz="1350" dirty="0"/>
          </a:p>
        </p:txBody>
      </p:sp>
      <p:sp>
        <p:nvSpPr>
          <p:cNvPr id="32" name="Text 30"/>
          <p:cNvSpPr/>
          <p:nvPr/>
        </p:nvSpPr>
        <p:spPr>
          <a:xfrm>
            <a:off x="2075688" y="4599432"/>
            <a:ext cx="35478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6627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重复请求不会创建第二次外部工作，状态变化保留审计记录。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6254496" y="4480560"/>
            <a:ext cx="5230368" cy="82296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CE3E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55664" y="4626864"/>
            <a:ext cx="107899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102A5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效果验证</a:t>
            </a:r>
            <a:endParaRPr lang="en-US" sz="1350" dirty="0"/>
          </a:p>
        </p:txBody>
      </p:sp>
      <p:sp>
        <p:nvSpPr>
          <p:cNvPr id="35" name="Text 33"/>
          <p:cNvSpPr/>
          <p:nvPr/>
        </p:nvSpPr>
        <p:spPr>
          <a:xfrm>
            <a:off x="7671816" y="4599432"/>
            <a:ext cx="35478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6627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动作成功不等于问题解决，系统需要等待窗口并检查业务信号。</a:t>
            </a:r>
            <a:endParaRPr lang="en-US" sz="1150" dirty="0"/>
          </a:p>
        </p:txBody>
      </p:sp>
      <p:sp>
        <p:nvSpPr>
          <p:cNvPr id="36" name="Text 34"/>
          <p:cNvSpPr/>
          <p:nvPr/>
        </p:nvSpPr>
        <p:spPr>
          <a:xfrm>
            <a:off x="1371600" y="5806440"/>
            <a:ext cx="9418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7C87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公开演示中的审批仅改变演示状态，不会调用真实 GitHub 或线上系统。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03152" y="6501384"/>
            <a:ext cx="420624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7C879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83464"/>
            <a:ext cx="3931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155F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09  评测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66928" y="603504"/>
            <a:ext cx="10972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02A5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用失败案例验证 Agent，而不是只展示成功演示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66928" y="1124712"/>
            <a:ext cx="10881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56627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固定标准答案、保留完整运行轨迹，再分别评估取证、引用、证据约束与最终判断。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12648" y="1664208"/>
            <a:ext cx="2487168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12700">
            <a:solidFill>
              <a:srgbClr val="DCE3E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12648" y="1664208"/>
            <a:ext cx="54864" cy="1143000"/>
          </a:xfrm>
          <a:prstGeom prst="rect">
            <a:avLst/>
          </a:prstGeom>
          <a:solidFill>
            <a:srgbClr val="2155F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13816" y="1792224"/>
            <a:ext cx="217627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56627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固定开发集评测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813816" y="2020824"/>
            <a:ext cx="217627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02A5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22 个案例</a:t>
            </a:r>
            <a:endParaRPr lang="en-US" sz="2500" dirty="0"/>
          </a:p>
        </p:txBody>
      </p:sp>
      <p:sp>
        <p:nvSpPr>
          <p:cNvPr id="9" name="Text 7"/>
          <p:cNvSpPr/>
          <p:nvPr/>
        </p:nvSpPr>
        <p:spPr>
          <a:xfrm>
            <a:off x="813816" y="2487168"/>
            <a:ext cx="21762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7C87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单轮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3429000" y="1664208"/>
            <a:ext cx="2487168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12700">
            <a:solidFill>
              <a:srgbClr val="DCE3E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429000" y="1664208"/>
            <a:ext cx="54864" cy="1143000"/>
          </a:xfrm>
          <a:prstGeom prst="rect">
            <a:avLst/>
          </a:prstGeom>
          <a:solidFill>
            <a:srgbClr val="167A5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30168" y="1792224"/>
            <a:ext cx="217627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56627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至少一项关键证据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630168" y="2020824"/>
            <a:ext cx="217627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02A5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22 / 22</a:t>
            </a:r>
            <a:endParaRPr lang="en-US" sz="2500" dirty="0"/>
          </a:p>
        </p:txBody>
      </p:sp>
      <p:sp>
        <p:nvSpPr>
          <p:cNvPr id="14" name="Text 12"/>
          <p:cNvSpPr/>
          <p:nvPr/>
        </p:nvSpPr>
        <p:spPr>
          <a:xfrm>
            <a:off x="3630168" y="2487168"/>
            <a:ext cx="21762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7C87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运行后与标准答案对照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245352" y="1664208"/>
            <a:ext cx="2487168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12700">
            <a:solidFill>
              <a:srgbClr val="DCE3E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45352" y="1664208"/>
            <a:ext cx="54864" cy="1143000"/>
          </a:xfrm>
          <a:prstGeom prst="rect">
            <a:avLst/>
          </a:prstGeom>
          <a:solidFill>
            <a:srgbClr val="2155F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46520" y="1792224"/>
            <a:ext cx="217627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56627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完整关键证据集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446520" y="2020824"/>
            <a:ext cx="217627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02A5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 / 22</a:t>
            </a:r>
            <a:endParaRPr lang="en-US" sz="2500" dirty="0"/>
          </a:p>
        </p:txBody>
      </p:sp>
      <p:sp>
        <p:nvSpPr>
          <p:cNvPr id="19" name="Text 17"/>
          <p:cNvSpPr/>
          <p:nvPr/>
        </p:nvSpPr>
        <p:spPr>
          <a:xfrm>
            <a:off x="6446520" y="2487168"/>
            <a:ext cx="21762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7C87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证据收集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9061704" y="1664208"/>
            <a:ext cx="2487168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12700">
            <a:solidFill>
              <a:srgbClr val="DCE3E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061704" y="1664208"/>
            <a:ext cx="54864" cy="1143000"/>
          </a:xfrm>
          <a:prstGeom prst="rect">
            <a:avLst/>
          </a:prstGeom>
          <a:solidFill>
            <a:srgbClr val="2155F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262872" y="1792224"/>
            <a:ext cx="217627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56627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受控调查信息源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9262872" y="2020824"/>
            <a:ext cx="217627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02A5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 类</a:t>
            </a:r>
            <a:endParaRPr lang="en-US" sz="2500" dirty="0"/>
          </a:p>
        </p:txBody>
      </p:sp>
      <p:sp>
        <p:nvSpPr>
          <p:cNvPr id="24" name="Text 22"/>
          <p:cNvSpPr/>
          <p:nvPr/>
        </p:nvSpPr>
        <p:spPr>
          <a:xfrm>
            <a:off x="9262872" y="2487168"/>
            <a:ext cx="21762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7C87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40 次只读工具调用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685800" y="3182112"/>
            <a:ext cx="347472" cy="310896"/>
          </a:xfrm>
          <a:prstGeom prst="rect">
            <a:avLst/>
          </a:prstGeom>
          <a:solidFill>
            <a:srgbClr val="2155F5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1124712" y="3172968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02A5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固定标准答案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2404872" y="3337560"/>
            <a:ext cx="109728" cy="0"/>
          </a:xfrm>
          <a:prstGeom prst="line">
            <a:avLst/>
          </a:prstGeom>
          <a:noFill/>
          <a:ln w="12700">
            <a:solidFill>
              <a:srgbClr val="96A5BA"/>
            </a:solidFill>
            <a:prstDash val="solid"/>
            <a:tailEnd type="triangle"/>
          </a:ln>
        </p:spPr>
      </p:sp>
      <p:sp>
        <p:nvSpPr>
          <p:cNvPr id="28" name="Text 26"/>
          <p:cNvSpPr/>
          <p:nvPr/>
        </p:nvSpPr>
        <p:spPr>
          <a:xfrm>
            <a:off x="2560320" y="3182112"/>
            <a:ext cx="347472" cy="310896"/>
          </a:xfrm>
          <a:prstGeom prst="rect">
            <a:avLst/>
          </a:prstGeom>
          <a:solidFill>
            <a:srgbClr val="2155F5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2999232" y="3172968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02A5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Agent 运行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4279392" y="3337560"/>
            <a:ext cx="109728" cy="0"/>
          </a:xfrm>
          <a:prstGeom prst="line">
            <a:avLst/>
          </a:prstGeom>
          <a:noFill/>
          <a:ln w="12700">
            <a:solidFill>
              <a:srgbClr val="96A5BA"/>
            </a:solidFill>
            <a:prstDash val="solid"/>
            <a:tailEnd type="triangle"/>
          </a:ln>
        </p:spPr>
      </p:sp>
      <p:sp>
        <p:nvSpPr>
          <p:cNvPr id="31" name="Text 29"/>
          <p:cNvSpPr/>
          <p:nvPr/>
        </p:nvSpPr>
        <p:spPr>
          <a:xfrm>
            <a:off x="4434840" y="3182112"/>
            <a:ext cx="347472" cy="310896"/>
          </a:xfrm>
          <a:prstGeom prst="rect">
            <a:avLst/>
          </a:prstGeom>
          <a:solidFill>
            <a:srgbClr val="2155F5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4873752" y="3172968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02A5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证据评分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6153912" y="3337560"/>
            <a:ext cx="109728" cy="0"/>
          </a:xfrm>
          <a:prstGeom prst="line">
            <a:avLst/>
          </a:prstGeom>
          <a:noFill/>
          <a:ln w="12700">
            <a:solidFill>
              <a:srgbClr val="96A5BA"/>
            </a:solidFill>
            <a:prstDash val="solid"/>
            <a:tailEnd type="triangle"/>
          </a:ln>
        </p:spPr>
      </p:sp>
      <p:sp>
        <p:nvSpPr>
          <p:cNvPr id="34" name="Text 32"/>
          <p:cNvSpPr/>
          <p:nvPr/>
        </p:nvSpPr>
        <p:spPr>
          <a:xfrm>
            <a:off x="6309360" y="3182112"/>
            <a:ext cx="347472" cy="310896"/>
          </a:xfrm>
          <a:prstGeom prst="rect">
            <a:avLst/>
          </a:prstGeom>
          <a:solidFill>
            <a:srgbClr val="102A56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6748272" y="3172968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02A5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盲评</a:t>
            </a:r>
            <a:endParaRPr lang="en-US" sz="1150" dirty="0"/>
          </a:p>
        </p:txBody>
      </p:sp>
      <p:sp>
        <p:nvSpPr>
          <p:cNvPr id="36" name="Shape 34"/>
          <p:cNvSpPr/>
          <p:nvPr/>
        </p:nvSpPr>
        <p:spPr>
          <a:xfrm>
            <a:off x="8028432" y="3337560"/>
            <a:ext cx="109728" cy="0"/>
          </a:xfrm>
          <a:prstGeom prst="line">
            <a:avLst/>
          </a:prstGeom>
          <a:noFill/>
          <a:ln w="12700">
            <a:solidFill>
              <a:srgbClr val="96A5BA"/>
            </a:solidFill>
            <a:prstDash val="solid"/>
            <a:tailEnd type="triangle"/>
          </a:ln>
        </p:spPr>
      </p:sp>
      <p:sp>
        <p:nvSpPr>
          <p:cNvPr id="37" name="Text 35"/>
          <p:cNvSpPr/>
          <p:nvPr/>
        </p:nvSpPr>
        <p:spPr>
          <a:xfrm>
            <a:off x="8183880" y="3182112"/>
            <a:ext cx="347472" cy="310896"/>
          </a:xfrm>
          <a:prstGeom prst="rect">
            <a:avLst/>
          </a:prstGeom>
          <a:solidFill>
            <a:srgbClr val="2155F5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8622792" y="3172968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02A5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失败分类</a:t>
            </a:r>
            <a:endParaRPr lang="en-US" sz="1150" dirty="0"/>
          </a:p>
        </p:txBody>
      </p:sp>
      <p:sp>
        <p:nvSpPr>
          <p:cNvPr id="39" name="Shape 37"/>
          <p:cNvSpPr/>
          <p:nvPr/>
        </p:nvSpPr>
        <p:spPr>
          <a:xfrm>
            <a:off x="9902952" y="3337560"/>
            <a:ext cx="109728" cy="0"/>
          </a:xfrm>
          <a:prstGeom prst="line">
            <a:avLst/>
          </a:prstGeom>
          <a:noFill/>
          <a:ln w="12700">
            <a:solidFill>
              <a:srgbClr val="96A5BA"/>
            </a:solidFill>
            <a:prstDash val="solid"/>
            <a:tailEnd type="triangle"/>
          </a:ln>
        </p:spPr>
      </p:sp>
      <p:sp>
        <p:nvSpPr>
          <p:cNvPr id="40" name="Text 38"/>
          <p:cNvSpPr/>
          <p:nvPr/>
        </p:nvSpPr>
        <p:spPr>
          <a:xfrm>
            <a:off x="10058400" y="3182112"/>
            <a:ext cx="347472" cy="310896"/>
          </a:xfrm>
          <a:prstGeom prst="rect">
            <a:avLst/>
          </a:prstGeom>
          <a:solidFill>
            <a:srgbClr val="2155F5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10497312" y="3172968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02A5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迭代</a:t>
            </a:r>
            <a:endParaRPr lang="en-US" sz="1150" dirty="0"/>
          </a:p>
        </p:txBody>
      </p:sp>
      <p:sp>
        <p:nvSpPr>
          <p:cNvPr id="42" name="Shape 40"/>
          <p:cNvSpPr/>
          <p:nvPr/>
        </p:nvSpPr>
        <p:spPr>
          <a:xfrm>
            <a:off x="621792" y="3877056"/>
            <a:ext cx="10972800" cy="1600200"/>
          </a:xfrm>
          <a:prstGeom prst="roundRect">
            <a:avLst>
              <a:gd name="adj" fmla="val 3429"/>
            </a:avLst>
          </a:prstGeom>
          <a:solidFill>
            <a:srgbClr val="FFFDFD"/>
          </a:solidFill>
          <a:ln w="12700">
            <a:solidFill>
              <a:srgbClr val="F1DCE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896112" y="4160520"/>
            <a:ext cx="45720" cy="219456"/>
          </a:xfrm>
          <a:prstGeom prst="rect">
            <a:avLst/>
          </a:prstGeom>
          <a:solidFill>
            <a:srgbClr val="D84A5D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1024128" y="4114800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102A5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真实结果与边界</a:t>
            </a:r>
            <a:endParaRPr lang="en-US" sz="1200" dirty="0"/>
          </a:p>
        </p:txBody>
      </p:sp>
      <p:sp>
        <p:nvSpPr>
          <p:cNvPr id="45" name="Text 43"/>
          <p:cNvSpPr/>
          <p:nvPr/>
        </p:nvSpPr>
        <p:spPr>
          <a:xfrm>
            <a:off x="914400" y="4507992"/>
            <a:ext cx="3127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02A5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取证强于最终表达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914400" y="4800600"/>
            <a:ext cx="3127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2155F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证据收集链路已形成</a:t>
            </a:r>
            <a:endParaRPr lang="en-US" sz="1350" dirty="0"/>
          </a:p>
        </p:txBody>
      </p:sp>
      <p:sp>
        <p:nvSpPr>
          <p:cNvPr id="47" name="Text 45"/>
          <p:cNvSpPr/>
          <p:nvPr/>
        </p:nvSpPr>
        <p:spPr>
          <a:xfrm>
            <a:off x="914400" y="5129784"/>
            <a:ext cx="3127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7C87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证据引用仍需加强</a:t>
            </a:r>
            <a:endParaRPr lang="en-US" sz="950" dirty="0"/>
          </a:p>
        </p:txBody>
      </p:sp>
      <p:sp>
        <p:nvSpPr>
          <p:cNvPr id="48" name="Text 46"/>
          <p:cNvSpPr/>
          <p:nvPr/>
        </p:nvSpPr>
        <p:spPr>
          <a:xfrm>
            <a:off x="4480560" y="4507992"/>
            <a:ext cx="3127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02A5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边界失败被保留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4480560" y="4800600"/>
            <a:ext cx="3127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D84A5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部分运行触发能力边界</a:t>
            </a:r>
            <a:endParaRPr lang="en-US" sz="1350" dirty="0"/>
          </a:p>
        </p:txBody>
      </p:sp>
      <p:sp>
        <p:nvSpPr>
          <p:cNvPr id="50" name="Text 48"/>
          <p:cNvSpPr/>
          <p:nvPr/>
        </p:nvSpPr>
        <p:spPr>
          <a:xfrm>
            <a:off x="4480560" y="5129784"/>
            <a:ext cx="3127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7C87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不通过重跑覆盖失败</a:t>
            </a:r>
            <a:endParaRPr lang="en-US" sz="950" dirty="0"/>
          </a:p>
        </p:txBody>
      </p:sp>
      <p:sp>
        <p:nvSpPr>
          <p:cNvPr id="51" name="Text 49"/>
          <p:cNvSpPr/>
          <p:nvPr/>
        </p:nvSpPr>
        <p:spPr>
          <a:xfrm>
            <a:off x="8046720" y="4507992"/>
            <a:ext cx="3127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02A5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综合结论仍有断层</a:t>
            </a:r>
            <a:endParaRPr lang="en-US" sz="1100" dirty="0"/>
          </a:p>
        </p:txBody>
      </p:sp>
      <p:sp>
        <p:nvSpPr>
          <p:cNvPr id="52" name="Text 50"/>
          <p:cNvSpPr/>
          <p:nvPr/>
        </p:nvSpPr>
        <p:spPr>
          <a:xfrm>
            <a:off x="8046720" y="4800600"/>
            <a:ext cx="3127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2155F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证据到诊断的转化</a:t>
            </a:r>
            <a:endParaRPr lang="en-US" sz="1350" dirty="0"/>
          </a:p>
        </p:txBody>
      </p:sp>
      <p:sp>
        <p:nvSpPr>
          <p:cNvPr id="53" name="Text 51"/>
          <p:cNvSpPr/>
          <p:nvPr/>
        </p:nvSpPr>
        <p:spPr>
          <a:xfrm>
            <a:off x="8046720" y="5129784"/>
            <a:ext cx="3127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7C87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证据约束仍需完善</a:t>
            </a:r>
            <a:endParaRPr lang="en-US" sz="950" dirty="0"/>
          </a:p>
        </p:txBody>
      </p:sp>
      <p:sp>
        <p:nvSpPr>
          <p:cNvPr id="54" name="Text 52"/>
          <p:cNvSpPr/>
          <p:nvPr/>
        </p:nvSpPr>
        <p:spPr>
          <a:xfrm>
            <a:off x="777240" y="5733288"/>
            <a:ext cx="10652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50" dirty="0">
                <a:solidFill>
                  <a:srgbClr val="56627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最终 V8 使用 gpt-5.6-sol。合成、可复现的单轮开发集评测，用于验证调查与评测方法，不代表生产环境准确率。</a:t>
            </a:r>
            <a:endParaRPr lang="en-US" sz="1150" dirty="0"/>
          </a:p>
        </p:txBody>
      </p:sp>
      <p:sp>
        <p:nvSpPr>
          <p:cNvPr id="55" name="Text 53"/>
          <p:cNvSpPr/>
          <p:nvPr/>
        </p:nvSpPr>
        <p:spPr>
          <a:xfrm>
            <a:off x="594360" y="6236208"/>
            <a:ext cx="1092708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50" dirty="0">
                <a:solidFill>
                  <a:srgbClr val="7C87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来源：最终 V8 评测报告与盲评摘要 · 标准答案未进入 Agent 运行时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03152" y="6501384"/>
            <a:ext cx="420624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7C879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83464"/>
            <a:ext cx="3931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155F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  迭代案例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66928" y="603504"/>
            <a:ext cx="10972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02A5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从低分追到可验证的产品机制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66928" y="1124712"/>
            <a:ext cx="10881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56627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没有继续盲调提示词，而是先做失败分类，再用最小改动和受控探针验证假设。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1280160" y="1847088"/>
            <a:ext cx="329184" cy="329184"/>
          </a:xfrm>
          <a:prstGeom prst="ellipse">
            <a:avLst/>
          </a:prstGeom>
          <a:solidFill>
            <a:srgbClr val="102A5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865376"/>
            <a:ext cx="32918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1618488" y="2011680"/>
            <a:ext cx="795528" cy="0"/>
          </a:xfrm>
          <a:prstGeom prst="line">
            <a:avLst/>
          </a:prstGeom>
          <a:noFill/>
          <a:ln w="15240">
            <a:solidFill>
              <a:srgbClr val="96A5BA"/>
            </a:solidFill>
            <a:prstDash val="solid"/>
            <a:tailEnd type="triangle"/>
          </a:ln>
        </p:spPr>
      </p:sp>
      <p:sp>
        <p:nvSpPr>
          <p:cNvPr id="8" name="Text 6"/>
          <p:cNvSpPr/>
          <p:nvPr/>
        </p:nvSpPr>
        <p:spPr>
          <a:xfrm>
            <a:off x="621792" y="2331720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2A5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Agent 能完成调查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21792" y="2798064"/>
            <a:ext cx="1645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7C87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技术成功不代表证据质量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3182112" y="1847088"/>
            <a:ext cx="329184" cy="329184"/>
          </a:xfrm>
          <a:prstGeom prst="ellipse">
            <a:avLst/>
          </a:prstGeom>
          <a:solidFill>
            <a:srgbClr val="102A5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182112" y="1865376"/>
            <a:ext cx="32918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520440" y="2011680"/>
            <a:ext cx="795528" cy="0"/>
          </a:xfrm>
          <a:prstGeom prst="line">
            <a:avLst/>
          </a:prstGeom>
          <a:noFill/>
          <a:ln w="15240">
            <a:solidFill>
              <a:srgbClr val="96A5BA"/>
            </a:solidFill>
            <a:prstDash val="solid"/>
            <a:tailEnd type="triangle"/>
          </a:ln>
        </p:spPr>
      </p:sp>
      <p:sp>
        <p:nvSpPr>
          <p:cNvPr id="13" name="Text 11"/>
          <p:cNvSpPr/>
          <p:nvPr/>
        </p:nvSpPr>
        <p:spPr>
          <a:xfrm>
            <a:off x="2523744" y="2331720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2A5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盲评结果较差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2523744" y="2798064"/>
            <a:ext cx="1645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7C87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最终结论缺少区分性证据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5084064" y="1847088"/>
            <a:ext cx="329184" cy="329184"/>
          </a:xfrm>
          <a:prstGeom prst="ellipse">
            <a:avLst/>
          </a:prstGeom>
          <a:solidFill>
            <a:srgbClr val="102A5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084064" y="1865376"/>
            <a:ext cx="32918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422392" y="2011680"/>
            <a:ext cx="795528" cy="0"/>
          </a:xfrm>
          <a:prstGeom prst="line">
            <a:avLst/>
          </a:prstGeom>
          <a:noFill/>
          <a:ln w="15240">
            <a:solidFill>
              <a:srgbClr val="96A5BA"/>
            </a:solidFill>
            <a:prstDash val="solid"/>
            <a:tailEnd type="triangle"/>
          </a:ln>
        </p:spPr>
      </p:sp>
      <p:sp>
        <p:nvSpPr>
          <p:cNvPr id="18" name="Text 16"/>
          <p:cNvSpPr/>
          <p:nvPr/>
        </p:nvSpPr>
        <p:spPr>
          <a:xfrm>
            <a:off x="4425696" y="2331720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2A5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失败分类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425696" y="2798064"/>
            <a:ext cx="1645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7C87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定位查询选择与就绪判断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6986016" y="1847088"/>
            <a:ext cx="329184" cy="329184"/>
          </a:xfrm>
          <a:prstGeom prst="ellipse">
            <a:avLst/>
          </a:prstGeom>
          <a:solidFill>
            <a:srgbClr val="2155F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986016" y="1865376"/>
            <a:ext cx="32918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7324344" y="2011680"/>
            <a:ext cx="795528" cy="0"/>
          </a:xfrm>
          <a:prstGeom prst="line">
            <a:avLst/>
          </a:prstGeom>
          <a:noFill/>
          <a:ln w="15240">
            <a:solidFill>
              <a:srgbClr val="96A5BA"/>
            </a:solidFill>
            <a:prstDash val="solid"/>
            <a:tailEnd type="triangle"/>
          </a:ln>
        </p:spPr>
      </p:sp>
      <p:sp>
        <p:nvSpPr>
          <p:cNvPr id="23" name="Text 21"/>
          <p:cNvSpPr/>
          <p:nvPr/>
        </p:nvSpPr>
        <p:spPr>
          <a:xfrm>
            <a:off x="6327648" y="2331720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2A5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就绪门控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327648" y="2798064"/>
            <a:ext cx="1645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7C87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竞争假设未区分时继续取证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8887968" y="1847088"/>
            <a:ext cx="329184" cy="329184"/>
          </a:xfrm>
          <a:prstGeom prst="ellipse">
            <a:avLst/>
          </a:prstGeom>
          <a:solidFill>
            <a:srgbClr val="2155F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887968" y="1865376"/>
            <a:ext cx="32918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9226296" y="2011680"/>
            <a:ext cx="795528" cy="0"/>
          </a:xfrm>
          <a:prstGeom prst="line">
            <a:avLst/>
          </a:prstGeom>
          <a:noFill/>
          <a:ln w="15240">
            <a:solidFill>
              <a:srgbClr val="96A5BA"/>
            </a:solidFill>
            <a:prstDash val="solid"/>
            <a:tailEnd type="triangle"/>
          </a:ln>
        </p:spPr>
      </p:sp>
      <p:sp>
        <p:nvSpPr>
          <p:cNvPr id="28" name="Text 26"/>
          <p:cNvSpPr/>
          <p:nvPr/>
        </p:nvSpPr>
        <p:spPr>
          <a:xfrm>
            <a:off x="8229600" y="2331720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2A5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受控探针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8229600" y="2798064"/>
            <a:ext cx="1645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7C87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只跑最小案例子集验证行为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10789920" y="1847088"/>
            <a:ext cx="329184" cy="329184"/>
          </a:xfrm>
          <a:prstGeom prst="ellipse">
            <a:avLst/>
          </a:prstGeom>
          <a:solidFill>
            <a:srgbClr val="2155F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0789920" y="1865376"/>
            <a:ext cx="32918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10131552" y="2331720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2A5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规划上下文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10131552" y="2798064"/>
            <a:ext cx="1645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7C87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显式提供可用与已尝试查询形态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658368" y="3794760"/>
            <a:ext cx="5230368" cy="1389888"/>
          </a:xfrm>
          <a:prstGeom prst="roundRect">
            <a:avLst>
              <a:gd name="adj" fmla="val 3947"/>
            </a:avLst>
          </a:prstGeom>
          <a:solidFill>
            <a:srgbClr val="EAF7F2"/>
          </a:solidFill>
          <a:ln w="12700">
            <a:solidFill>
              <a:srgbClr val="167A5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932688" y="4023360"/>
            <a:ext cx="2148840" cy="274320"/>
          </a:xfrm>
          <a:prstGeom prst="roundRect">
            <a:avLst>
              <a:gd name="adj" fmla="val 50000"/>
            </a:avLst>
          </a:prstGeom>
          <a:solidFill>
            <a:srgbClr val="EAF7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978408" y="4041648"/>
            <a:ext cx="2057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67A5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CASE-206 · 受控探针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932688" y="4480560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67A5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由未命中到严格通过</a:t>
            </a:r>
            <a:endParaRPr lang="en-US" sz="1700" dirty="0"/>
          </a:p>
        </p:txBody>
      </p:sp>
      <p:sp>
        <p:nvSpPr>
          <p:cNvPr id="38" name="Text 36"/>
          <p:cNvSpPr/>
          <p:nvPr/>
        </p:nvSpPr>
        <p:spPr>
          <a:xfrm>
            <a:off x="3218688" y="4407408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56627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区分性取证成功排除竞争解释</a:t>
            </a:r>
            <a:endParaRPr lang="en-US" sz="1250" dirty="0"/>
          </a:p>
        </p:txBody>
      </p:sp>
      <p:sp>
        <p:nvSpPr>
          <p:cNvPr id="39" name="Shape 37"/>
          <p:cNvSpPr/>
          <p:nvPr/>
        </p:nvSpPr>
        <p:spPr>
          <a:xfrm>
            <a:off x="6272784" y="3794760"/>
            <a:ext cx="5230368" cy="1389888"/>
          </a:xfrm>
          <a:prstGeom prst="roundRect">
            <a:avLst>
              <a:gd name="adj" fmla="val 3947"/>
            </a:avLst>
          </a:prstGeom>
          <a:solidFill>
            <a:srgbClr val="F1F5FF"/>
          </a:solidFill>
          <a:ln w="12700">
            <a:solidFill>
              <a:srgbClr val="2155F5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547104" y="4023360"/>
            <a:ext cx="2148840" cy="274320"/>
          </a:xfrm>
          <a:prstGeom prst="roundRect">
            <a:avLst>
              <a:gd name="adj" fmla="val 50000"/>
            </a:avLst>
          </a:prstGeom>
          <a:solidFill>
            <a:srgbClr val="F1F5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592824" y="4041648"/>
            <a:ext cx="2057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155F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CASE-218 · 受控探针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6547104" y="4443984"/>
            <a:ext cx="2423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2155F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错误确定性归因</a:t>
            </a:r>
            <a:endParaRPr lang="en-US" sz="1700" dirty="0"/>
          </a:p>
          <a:p>
            <a:pPr indent="0" marL="0">
              <a:buNone/>
            </a:pPr>
            <a:r>
              <a:rPr lang="en-US" sz="1700" b="1" dirty="0">
                <a:solidFill>
                  <a:srgbClr val="2155F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有界拒答</a:t>
            </a:r>
            <a:endParaRPr lang="en-US" sz="1700" dirty="0"/>
          </a:p>
        </p:txBody>
      </p:sp>
      <p:sp>
        <p:nvSpPr>
          <p:cNvPr id="43" name="Text 41"/>
          <p:cNvSpPr/>
          <p:nvPr/>
        </p:nvSpPr>
        <p:spPr>
          <a:xfrm>
            <a:off x="9253728" y="4480560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56627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证据不足时停止过度归因</a:t>
            </a:r>
            <a:endParaRPr lang="en-US" sz="1250" dirty="0"/>
          </a:p>
        </p:txBody>
      </p:sp>
      <p:sp>
        <p:nvSpPr>
          <p:cNvPr id="44" name="Text 42"/>
          <p:cNvSpPr/>
          <p:nvPr/>
        </p:nvSpPr>
        <p:spPr>
          <a:xfrm>
            <a:off x="1298448" y="5614416"/>
            <a:ext cx="960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84A5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这两个结果是局部受控探针，不代表整体评测准确率提升。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03152" y="6501384"/>
            <a:ext cx="420624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7C879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83464"/>
            <a:ext cx="3931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155F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  我的工作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66928" y="603504"/>
            <a:ext cx="10972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02A5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我负责把业务问题转译为 Agent 产品机制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66928" y="1124712"/>
            <a:ext cx="10881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56627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工作范围覆盖产品定义、Agent 设计、评测体系和迭代决策，代码用于把这些产品约束变成可运行系统。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94360" y="1783080"/>
            <a:ext cx="2587752" cy="3337560"/>
          </a:xfrm>
          <a:prstGeom prst="roundRect">
            <a:avLst>
              <a:gd name="adj" fmla="val 2120"/>
            </a:avLst>
          </a:prstGeom>
          <a:solidFill>
            <a:srgbClr val="FFFFFF"/>
          </a:solidFill>
          <a:ln w="12700">
            <a:solidFill>
              <a:srgbClr val="DCE3E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95528" y="2011680"/>
            <a:ext cx="3840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2155F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795528" y="2359152"/>
            <a:ext cx="21579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102A5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产品定义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813816" y="2990088"/>
            <a:ext cx="329184" cy="329184"/>
          </a:xfrm>
          <a:prstGeom prst="ellipse">
            <a:avLst/>
          </a:prstGeom>
          <a:solidFill>
            <a:srgbClr val="102A5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13816" y="3008376"/>
            <a:ext cx="32918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1280160" y="2971800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6627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目标用户与使用场景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13816" y="3602736"/>
            <a:ext cx="329184" cy="329184"/>
          </a:xfrm>
          <a:prstGeom prst="ellipse">
            <a:avLst/>
          </a:prstGeom>
          <a:solidFill>
            <a:srgbClr val="102A5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13816" y="3621024"/>
            <a:ext cx="32918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1280160" y="3584448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6627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发布风险调查边界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13816" y="4215384"/>
            <a:ext cx="329184" cy="329184"/>
          </a:xfrm>
          <a:prstGeom prst="ellipse">
            <a:avLst/>
          </a:prstGeom>
          <a:solidFill>
            <a:srgbClr val="102A5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13816" y="4233672"/>
            <a:ext cx="32918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1280160" y="4197096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6627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端到端产品流程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456432" y="1783080"/>
            <a:ext cx="2587752" cy="3337560"/>
          </a:xfrm>
          <a:prstGeom prst="roundRect">
            <a:avLst>
              <a:gd name="adj" fmla="val 2120"/>
            </a:avLst>
          </a:prstGeom>
          <a:solidFill>
            <a:srgbClr val="F1F5FF"/>
          </a:solidFill>
          <a:ln w="12700">
            <a:solidFill>
              <a:srgbClr val="2155F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0" y="2011680"/>
            <a:ext cx="3840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2155F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3657600" y="2359152"/>
            <a:ext cx="21579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102A5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Agent 产品设计</a:t>
            </a:r>
            <a:endParaRPr lang="en-US" sz="1900" dirty="0"/>
          </a:p>
        </p:txBody>
      </p:sp>
      <p:sp>
        <p:nvSpPr>
          <p:cNvPr id="20" name="Shape 18"/>
          <p:cNvSpPr/>
          <p:nvPr/>
        </p:nvSpPr>
        <p:spPr>
          <a:xfrm>
            <a:off x="3675888" y="2990088"/>
            <a:ext cx="329184" cy="329184"/>
          </a:xfrm>
          <a:prstGeom prst="ellipse">
            <a:avLst/>
          </a:prstGeom>
          <a:solidFill>
            <a:srgbClr val="2155F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675888" y="3008376"/>
            <a:ext cx="32918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4142232" y="2971800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6627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竞争假设与证据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75888" y="3602736"/>
            <a:ext cx="329184" cy="329184"/>
          </a:xfrm>
          <a:prstGeom prst="ellipse">
            <a:avLst/>
          </a:prstGeom>
          <a:solidFill>
            <a:srgbClr val="2155F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75888" y="3621024"/>
            <a:ext cx="32918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4142232" y="3584448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6627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工具契约与就绪判断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3675888" y="4215384"/>
            <a:ext cx="329184" cy="329184"/>
          </a:xfrm>
          <a:prstGeom prst="ellipse">
            <a:avLst/>
          </a:prstGeom>
          <a:solidFill>
            <a:srgbClr val="2155F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75888" y="4233672"/>
            <a:ext cx="32918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4142232" y="4197096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6627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人工审批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318504" y="1783080"/>
            <a:ext cx="2587752" cy="3337560"/>
          </a:xfrm>
          <a:prstGeom prst="roundRect">
            <a:avLst>
              <a:gd name="adj" fmla="val 2120"/>
            </a:avLst>
          </a:prstGeom>
          <a:solidFill>
            <a:srgbClr val="FFFFFF"/>
          </a:solidFill>
          <a:ln w="12700">
            <a:solidFill>
              <a:srgbClr val="DCE3E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519672" y="2011680"/>
            <a:ext cx="3840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2155F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6519672" y="2359152"/>
            <a:ext cx="21579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102A5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评测体系</a:t>
            </a:r>
            <a:endParaRPr lang="en-US" sz="1900" dirty="0"/>
          </a:p>
        </p:txBody>
      </p:sp>
      <p:sp>
        <p:nvSpPr>
          <p:cNvPr id="32" name="Shape 30"/>
          <p:cNvSpPr/>
          <p:nvPr/>
        </p:nvSpPr>
        <p:spPr>
          <a:xfrm>
            <a:off x="6537960" y="2990088"/>
            <a:ext cx="329184" cy="329184"/>
          </a:xfrm>
          <a:prstGeom prst="ellipse">
            <a:avLst/>
          </a:prstGeom>
          <a:solidFill>
            <a:srgbClr val="102A5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537960" y="3008376"/>
            <a:ext cx="32918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7004304" y="2971800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6627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标准答案与固定案例集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6537960" y="3602736"/>
            <a:ext cx="329184" cy="329184"/>
          </a:xfrm>
          <a:prstGeom prst="ellipse">
            <a:avLst/>
          </a:prstGeom>
          <a:solidFill>
            <a:srgbClr val="102A5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537960" y="3621024"/>
            <a:ext cx="32918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7004304" y="3584448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6627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盲评机制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6537960" y="4215384"/>
            <a:ext cx="329184" cy="329184"/>
          </a:xfrm>
          <a:prstGeom prst="ellipse">
            <a:avLst/>
          </a:prstGeom>
          <a:solidFill>
            <a:srgbClr val="102A5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537960" y="4233672"/>
            <a:ext cx="32918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7004304" y="4197096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6627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失败分类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9180576" y="1783080"/>
            <a:ext cx="2587752" cy="3337560"/>
          </a:xfrm>
          <a:prstGeom prst="roundRect">
            <a:avLst>
              <a:gd name="adj" fmla="val 2120"/>
            </a:avLst>
          </a:prstGeom>
          <a:solidFill>
            <a:srgbClr val="FFFFFF"/>
          </a:solidFill>
          <a:ln w="12700">
            <a:solidFill>
              <a:srgbClr val="DCE3EF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9381744" y="2011680"/>
            <a:ext cx="3840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2155F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</a:t>
            </a:r>
            <a:endParaRPr lang="en-US" sz="1050" dirty="0"/>
          </a:p>
        </p:txBody>
      </p:sp>
      <p:sp>
        <p:nvSpPr>
          <p:cNvPr id="43" name="Text 41"/>
          <p:cNvSpPr/>
          <p:nvPr/>
        </p:nvSpPr>
        <p:spPr>
          <a:xfrm>
            <a:off x="9381744" y="2359152"/>
            <a:ext cx="21579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102A5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迭代决策</a:t>
            </a:r>
            <a:endParaRPr lang="en-US" sz="1900" dirty="0"/>
          </a:p>
        </p:txBody>
      </p:sp>
      <p:sp>
        <p:nvSpPr>
          <p:cNvPr id="44" name="Shape 42"/>
          <p:cNvSpPr/>
          <p:nvPr/>
        </p:nvSpPr>
        <p:spPr>
          <a:xfrm>
            <a:off x="9400032" y="2990088"/>
            <a:ext cx="329184" cy="329184"/>
          </a:xfrm>
          <a:prstGeom prst="ellipse">
            <a:avLst/>
          </a:prstGeom>
          <a:solidFill>
            <a:srgbClr val="102A5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9400032" y="3008376"/>
            <a:ext cx="32918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050" dirty="0"/>
          </a:p>
        </p:txBody>
      </p:sp>
      <p:sp>
        <p:nvSpPr>
          <p:cNvPr id="46" name="Text 44"/>
          <p:cNvSpPr/>
          <p:nvPr/>
        </p:nvSpPr>
        <p:spPr>
          <a:xfrm>
            <a:off x="9866376" y="2971800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6627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定位失败阶段</a:t>
            </a:r>
            <a:endParaRPr lang="en-US" sz="1200" dirty="0"/>
          </a:p>
        </p:txBody>
      </p:sp>
      <p:sp>
        <p:nvSpPr>
          <p:cNvPr id="47" name="Shape 45"/>
          <p:cNvSpPr/>
          <p:nvPr/>
        </p:nvSpPr>
        <p:spPr>
          <a:xfrm>
            <a:off x="9400032" y="3602736"/>
            <a:ext cx="329184" cy="329184"/>
          </a:xfrm>
          <a:prstGeom prst="ellipse">
            <a:avLst/>
          </a:prstGeom>
          <a:solidFill>
            <a:srgbClr val="102A5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9400032" y="3621024"/>
            <a:ext cx="32918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050" dirty="0"/>
          </a:p>
        </p:txBody>
      </p:sp>
      <p:sp>
        <p:nvSpPr>
          <p:cNvPr id="49" name="Text 47"/>
          <p:cNvSpPr/>
          <p:nvPr/>
        </p:nvSpPr>
        <p:spPr>
          <a:xfrm>
            <a:off x="9866376" y="3584448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6627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设计受控探针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9400032" y="4215384"/>
            <a:ext cx="329184" cy="329184"/>
          </a:xfrm>
          <a:prstGeom prst="ellipse">
            <a:avLst/>
          </a:prstGeom>
          <a:solidFill>
            <a:srgbClr val="102A5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9400032" y="4233672"/>
            <a:ext cx="32918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050" dirty="0"/>
          </a:p>
        </p:txBody>
      </p:sp>
      <p:sp>
        <p:nvSpPr>
          <p:cNvPr id="52" name="Text 50"/>
          <p:cNvSpPr/>
          <p:nvPr/>
        </p:nvSpPr>
        <p:spPr>
          <a:xfrm>
            <a:off x="9866376" y="4197096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6627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最小改动与主动冻结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594360" y="5440680"/>
            <a:ext cx="11018520" cy="502920"/>
          </a:xfrm>
          <a:prstGeom prst="roundRect">
            <a:avLst>
              <a:gd name="adj" fmla="val 10909"/>
            </a:avLst>
          </a:prstGeom>
          <a:solidFill>
            <a:srgbClr val="102A56"/>
          </a:solidFill>
          <a:ln w="12700">
            <a:solidFill>
              <a:srgbClr val="102A56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932688" y="5550408"/>
            <a:ext cx="10332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作品集目标达到后停止针对评测调优，把剩余问题公开记录为能力边界。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03152" y="6501384"/>
            <a:ext cx="420624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7C879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83464"/>
            <a:ext cx="3931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155F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  能力边界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66928" y="603504"/>
            <a:ext cx="10972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02A5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明确能力边界，才能让 Agent 迭代真正可验证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66928" y="1124712"/>
            <a:ext cx="10881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56627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作品集 v1.0 已完成功能冻结；后续只将未解决问题作为未来方向，不继续针对评测调参。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94360" y="1709928"/>
            <a:ext cx="6583680" cy="4069080"/>
          </a:xfrm>
          <a:prstGeom prst="roundRect">
            <a:avLst>
              <a:gd name="adj" fmla="val 1348"/>
            </a:avLst>
          </a:prstGeom>
          <a:solidFill>
            <a:srgbClr val="FFFFFF"/>
          </a:solidFill>
          <a:ln w="12700">
            <a:solidFill>
              <a:srgbClr val="DCE3E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96112" y="2020824"/>
            <a:ext cx="45720" cy="219456"/>
          </a:xfrm>
          <a:prstGeom prst="rect">
            <a:avLst/>
          </a:prstGeom>
          <a:solidFill>
            <a:srgbClr val="D84A5D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24128" y="1975104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102A5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当前限制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932688" y="2542032"/>
            <a:ext cx="329184" cy="329184"/>
          </a:xfrm>
          <a:prstGeom prst="ellipse">
            <a:avLst/>
          </a:prstGeom>
          <a:solidFill>
            <a:srgbClr val="102A5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32688" y="2560320"/>
            <a:ext cx="32918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1399032" y="2505456"/>
            <a:ext cx="5376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6627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合成、可复现的开发集；最终评测仅运行一轮，未做多随机种子或 3×22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932688" y="3200400"/>
            <a:ext cx="329184" cy="329184"/>
          </a:xfrm>
          <a:prstGeom prst="ellipse">
            <a:avLst/>
          </a:prstGeom>
          <a:solidFill>
            <a:srgbClr val="102A5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32688" y="3218688"/>
            <a:ext cx="32918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1399032" y="3163824"/>
            <a:ext cx="5376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6627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规划器的查询选择仍受模型采样影响；盲评模型也存在方差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32688" y="3858768"/>
            <a:ext cx="329184" cy="329184"/>
          </a:xfrm>
          <a:prstGeom prst="ellipse">
            <a:avLst/>
          </a:prstGeom>
          <a:solidFill>
            <a:srgbClr val="102A5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32688" y="3877056"/>
            <a:ext cx="32918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1399032" y="3822192"/>
            <a:ext cx="5376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6627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真实写操作仅支持 CREATE_GITHUB_ISSUE；没有自动修复或自主回滚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932688" y="4517136"/>
            <a:ext cx="329184" cy="329184"/>
          </a:xfrm>
          <a:prstGeom prst="ellipse">
            <a:avLst/>
          </a:prstGeom>
          <a:solidFill>
            <a:srgbClr val="102A5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32688" y="4535424"/>
            <a:ext cx="32918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1399032" y="4480560"/>
            <a:ext cx="5376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6627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公开演示使用确定性回放，不代表真实企业部署或客户投资回报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7479792" y="1709928"/>
            <a:ext cx="4114800" cy="2176272"/>
          </a:xfrm>
          <a:prstGeom prst="roundRect">
            <a:avLst>
              <a:gd name="adj" fmla="val 2521"/>
            </a:avLst>
          </a:prstGeom>
          <a:solidFill>
            <a:srgbClr val="F1F5FF"/>
          </a:solidFill>
          <a:ln w="12700">
            <a:solidFill>
              <a:srgbClr val="2155F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772400" y="2020824"/>
            <a:ext cx="45720" cy="219456"/>
          </a:xfrm>
          <a:prstGeom prst="rect">
            <a:avLst/>
          </a:prstGeom>
          <a:solidFill>
            <a:srgbClr val="2155F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900416" y="1975104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102A5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未来方向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7790688" y="2468880"/>
            <a:ext cx="340156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56627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提升能力边界契约的稳定性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56627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改善证据引用与结论投影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56627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完成同模型多随机种子验证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56627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在真实数据接入后重新评估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7479792" y="4187952"/>
            <a:ext cx="4114800" cy="1591056"/>
          </a:xfrm>
          <a:prstGeom prst="roundRect">
            <a:avLst>
              <a:gd name="adj" fmla="val 3448"/>
            </a:avLst>
          </a:prstGeom>
          <a:solidFill>
            <a:srgbClr val="102A56"/>
          </a:solidFill>
          <a:ln w="12700">
            <a:solidFill>
              <a:srgbClr val="102A5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790688" y="4443984"/>
            <a:ext cx="1188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李超</a:t>
            </a:r>
            <a:endParaRPr lang="en-US" sz="2100" dirty="0"/>
          </a:p>
        </p:txBody>
      </p:sp>
      <p:sp>
        <p:nvSpPr>
          <p:cNvPr id="26" name="Text 24"/>
          <p:cNvSpPr/>
          <p:nvPr/>
        </p:nvSpPr>
        <p:spPr>
          <a:xfrm>
            <a:off x="9006840" y="4407408"/>
            <a:ext cx="214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D7E0F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UNSW 信息技术硕士 · 人工智能方向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7E0F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2027 届 · AI 产品经理</a:t>
            </a:r>
            <a:endParaRPr lang="en-US" sz="1150" dirty="0"/>
          </a:p>
        </p:txBody>
      </p:sp>
      <p:sp>
        <p:nvSpPr>
          <p:cNvPr id="27" name="Text 25">
            <a:hlinkClick r:id="rId1" tooltip=""/>
          </p:cNvPr>
          <p:cNvSpPr/>
          <p:nvPr/>
        </p:nvSpPr>
        <p:spPr>
          <a:xfrm>
            <a:off x="7790688" y="515721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u="sng" dirty="0">
                <a:solidFill>
                  <a:srgbClr val="9EB5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在线演示  ↗</a:t>
            </a:r>
            <a:endParaRPr lang="en-US" sz="1200" dirty="0"/>
          </a:p>
        </p:txBody>
      </p:sp>
      <p:sp>
        <p:nvSpPr>
          <p:cNvPr id="28" name="Text 26">
            <a:hlinkClick r:id="rId2" tooltip=""/>
          </p:cNvPr>
          <p:cNvSpPr/>
          <p:nvPr/>
        </p:nvSpPr>
        <p:spPr>
          <a:xfrm>
            <a:off x="9400032" y="5157216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u="sng" dirty="0">
                <a:solidFill>
                  <a:srgbClr val="9EB5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  ↗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03152" y="6501384"/>
            <a:ext cx="420624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7C879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icrosoft YaHe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Ya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UNSW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ReleaseGuard AI｜AI 产品经理项目作品集</dc:title>
  <dc:subject>ReleaseGuard AI Portfolio v1.0</dc:subject>
  <dc:creator>李超</dc:creator>
  <cp:lastModifiedBy>李超</cp:lastModifiedBy>
  <cp:revision>1</cp:revision>
  <dcterms:created xsi:type="dcterms:W3CDTF">2026-09-08T10:26:46Z</dcterms:created>
  <dcterms:modified xsi:type="dcterms:W3CDTF">2026-09-08T10:26:46Z</dcterms:modified>
</cp:coreProperties>
</file>